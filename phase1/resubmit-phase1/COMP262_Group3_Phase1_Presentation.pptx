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6" r:id="rId7"/>
    <p:sldId id="261" r:id="rId8"/>
    <p:sldId id="277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4" r:id="rId20"/>
    <p:sldId id="272" r:id="rId21"/>
    <p:sldId id="273" r:id="rId22"/>
  </p:sldIdLst>
  <p:sldSz cx="18288000" cy="10287000"/>
  <p:notesSz cx="6858000" cy="9144000"/>
  <p:embeddedFontLst>
    <p:embeddedFont>
      <p:font typeface="Lato" panose="020F0502020204030203" pitchFamily="34" charset="0"/>
      <p:regular r:id="rId23"/>
    </p:embeddedFont>
    <p:embeddedFont>
      <p:font typeface="Lato Bold" panose="020F0502020204030203" charset="0"/>
      <p:regular r:id="rId24"/>
    </p:embeddedFont>
    <p:embeddedFont>
      <p:font typeface="Poppins" panose="00000500000000000000" pitchFamily="2" charset="0"/>
      <p:regular r:id="rId25"/>
    </p:embeddedFont>
    <p:embeddedFont>
      <p:font typeface="Poppins Bold" panose="00000800000000000000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9.png"/><Relationship Id="rId7" Type="http://schemas.openxmlformats.org/officeDocument/2006/relationships/image" Target="../media/image2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5.png"/><Relationship Id="rId7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6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8665" y="645697"/>
            <a:ext cx="16598104" cy="995428"/>
            <a:chOff x="0" y="0"/>
            <a:chExt cx="4371517" cy="2621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1517" cy="262170"/>
            </a:xfrm>
            <a:custGeom>
              <a:avLst/>
              <a:gdLst/>
              <a:ahLst/>
              <a:cxnLst/>
              <a:rect l="l" t="t" r="r" b="b"/>
              <a:pathLst>
                <a:path w="4371517" h="262170">
                  <a:moveTo>
                    <a:pt x="29852" y="0"/>
                  </a:moveTo>
                  <a:lnTo>
                    <a:pt x="4341666" y="0"/>
                  </a:lnTo>
                  <a:cubicBezTo>
                    <a:pt x="4349583" y="0"/>
                    <a:pt x="4357176" y="3145"/>
                    <a:pt x="4362774" y="8743"/>
                  </a:cubicBezTo>
                  <a:cubicBezTo>
                    <a:pt x="4368372" y="14342"/>
                    <a:pt x="4371517" y="21935"/>
                    <a:pt x="4371517" y="29852"/>
                  </a:cubicBezTo>
                  <a:lnTo>
                    <a:pt x="4371517" y="232318"/>
                  </a:lnTo>
                  <a:cubicBezTo>
                    <a:pt x="4371517" y="248805"/>
                    <a:pt x="4358152" y="262170"/>
                    <a:pt x="4341666" y="262170"/>
                  </a:cubicBezTo>
                  <a:lnTo>
                    <a:pt x="29852" y="262170"/>
                  </a:lnTo>
                  <a:cubicBezTo>
                    <a:pt x="21935" y="262170"/>
                    <a:pt x="14342" y="259025"/>
                    <a:pt x="8743" y="253427"/>
                  </a:cubicBezTo>
                  <a:cubicBezTo>
                    <a:pt x="3145" y="247829"/>
                    <a:pt x="0" y="240236"/>
                    <a:pt x="0" y="232318"/>
                  </a:cubicBezTo>
                  <a:lnTo>
                    <a:pt x="0" y="29852"/>
                  </a:lnTo>
                  <a:cubicBezTo>
                    <a:pt x="0" y="21935"/>
                    <a:pt x="3145" y="14342"/>
                    <a:pt x="8743" y="8743"/>
                  </a:cubicBezTo>
                  <a:cubicBezTo>
                    <a:pt x="14342" y="3145"/>
                    <a:pt x="21935" y="0"/>
                    <a:pt x="29852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71517" cy="300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651837" y="289333"/>
            <a:ext cx="12112509" cy="8707633"/>
          </a:xfrm>
          <a:custGeom>
            <a:avLst/>
            <a:gdLst/>
            <a:ahLst/>
            <a:cxnLst/>
            <a:rect l="l" t="t" r="r" b="b"/>
            <a:pathLst>
              <a:path w="12112509" h="8707633">
                <a:moveTo>
                  <a:pt x="0" y="0"/>
                </a:moveTo>
                <a:lnTo>
                  <a:pt x="12112509" y="0"/>
                </a:lnTo>
                <a:lnTo>
                  <a:pt x="12112509" y="8707633"/>
                </a:lnTo>
                <a:lnTo>
                  <a:pt x="0" y="8707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01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>
            <a:off x="1171305" y="879197"/>
            <a:ext cx="528429" cy="528429"/>
          </a:xfrm>
          <a:custGeom>
            <a:avLst/>
            <a:gdLst/>
            <a:ahLst/>
            <a:cxnLst/>
            <a:rect l="l" t="t" r="r" b="b"/>
            <a:pathLst>
              <a:path w="528429" h="528429">
                <a:moveTo>
                  <a:pt x="0" y="0"/>
                </a:moveTo>
                <a:lnTo>
                  <a:pt x="528429" y="0"/>
                </a:lnTo>
                <a:lnTo>
                  <a:pt x="528429" y="528429"/>
                </a:lnTo>
                <a:lnTo>
                  <a:pt x="0" y="528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TextBox 7"/>
          <p:cNvSpPr txBox="1"/>
          <p:nvPr/>
        </p:nvSpPr>
        <p:spPr>
          <a:xfrm>
            <a:off x="928665" y="2413563"/>
            <a:ext cx="11411477" cy="4222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59"/>
              </a:lnSpc>
            </a:pPr>
            <a:r>
              <a:rPr lang="en-US" sz="14508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SENTIMENT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96669" y="882426"/>
            <a:ext cx="375516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COMP 262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8665" y="6833868"/>
            <a:ext cx="7762921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For Amazon Fashion Reviews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6969" y="7837878"/>
            <a:ext cx="8197031" cy="19989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en-US" sz="23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Jaturaput </a:t>
            </a:r>
            <a:r>
              <a:rPr lang="en-US" sz="23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Jongsubcharoen</a:t>
            </a:r>
            <a:r>
              <a:rPr lang="en-US" sz="23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		301391425</a:t>
            </a:r>
          </a:p>
          <a:p>
            <a:pPr>
              <a:lnSpc>
                <a:spcPts val="3220"/>
              </a:lnSpc>
            </a:pPr>
            <a:r>
              <a:rPr lang="en-US" sz="23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Juan David </a:t>
            </a:r>
            <a:r>
              <a:rPr lang="en-US" sz="23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Baarrero</a:t>
            </a:r>
            <a:r>
              <a:rPr lang="en-US" sz="23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			301352353</a:t>
            </a:r>
          </a:p>
          <a:p>
            <a:pPr>
              <a:lnSpc>
                <a:spcPts val="3220"/>
              </a:lnSpc>
            </a:pPr>
            <a:r>
              <a:rPr lang="en-US" sz="23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Maria Paula Nova			301374220</a:t>
            </a:r>
          </a:p>
          <a:p>
            <a:pPr>
              <a:lnSpc>
                <a:spcPts val="3220"/>
              </a:lnSpc>
            </a:pPr>
            <a:r>
              <a:rPr lang="en-US" sz="23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Daniela Diaz				301281747</a:t>
            </a:r>
          </a:p>
          <a:p>
            <a:pPr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Anmol Sagar Shrestha		301364068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482999"/>
            <a:ext cx="12577332" cy="8137251"/>
            <a:chOff x="0" y="0"/>
            <a:chExt cx="3312548" cy="21431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12549" cy="2143144"/>
            </a:xfrm>
            <a:custGeom>
              <a:avLst/>
              <a:gdLst/>
              <a:ahLst/>
              <a:cxnLst/>
              <a:rect l="l" t="t" r="r" b="b"/>
              <a:pathLst>
                <a:path w="3312549" h="2143144">
                  <a:moveTo>
                    <a:pt x="12311" y="0"/>
                  </a:moveTo>
                  <a:lnTo>
                    <a:pt x="3300238" y="0"/>
                  </a:lnTo>
                  <a:cubicBezTo>
                    <a:pt x="3307037" y="0"/>
                    <a:pt x="3312549" y="5512"/>
                    <a:pt x="3312549" y="12311"/>
                  </a:cubicBezTo>
                  <a:lnTo>
                    <a:pt x="3312549" y="2130834"/>
                  </a:lnTo>
                  <a:cubicBezTo>
                    <a:pt x="3312549" y="2134099"/>
                    <a:pt x="3311251" y="2137230"/>
                    <a:pt x="3308943" y="2139539"/>
                  </a:cubicBezTo>
                  <a:cubicBezTo>
                    <a:pt x="3306634" y="2141847"/>
                    <a:pt x="3303503" y="2143144"/>
                    <a:pt x="3300238" y="2143144"/>
                  </a:cubicBezTo>
                  <a:lnTo>
                    <a:pt x="12311" y="2143144"/>
                  </a:lnTo>
                  <a:cubicBezTo>
                    <a:pt x="9046" y="2143144"/>
                    <a:pt x="5915" y="2141847"/>
                    <a:pt x="3606" y="2139539"/>
                  </a:cubicBezTo>
                  <a:cubicBezTo>
                    <a:pt x="1297" y="2137230"/>
                    <a:pt x="0" y="2134099"/>
                    <a:pt x="0" y="2130834"/>
                  </a:cubicBezTo>
                  <a:lnTo>
                    <a:pt x="0" y="12311"/>
                  </a:lnTo>
                  <a:cubicBezTo>
                    <a:pt x="0" y="9046"/>
                    <a:pt x="1297" y="5915"/>
                    <a:pt x="3606" y="3606"/>
                  </a:cubicBezTo>
                  <a:cubicBezTo>
                    <a:pt x="5915" y="1297"/>
                    <a:pt x="9046" y="0"/>
                    <a:pt x="12311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312548" cy="2181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6626729" flipH="1">
            <a:off x="7833694" y="1093825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9"/>
                </a:lnTo>
                <a:lnTo>
                  <a:pt x="12221289" y="8822969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 rot="6626729" flipH="1">
            <a:off x="-8130685" y="1817905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TextBox 7"/>
          <p:cNvSpPr txBox="1"/>
          <p:nvPr/>
        </p:nvSpPr>
        <p:spPr>
          <a:xfrm>
            <a:off x="3042408" y="4599799"/>
            <a:ext cx="9267604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Phase 1 focuses on exploration, labeling, preprocessing, lexicon selection, and evaluation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80562" y="2040570"/>
            <a:ext cx="7873608" cy="189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sz="6500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OBJECTIVE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89646" y="6172059"/>
            <a:ext cx="8364524" cy="2277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Build complete reproducible pipeline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Ratings to proxy ground-truth labels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Implement VADER &amp; </a:t>
            </a:r>
            <a:r>
              <a:rPr lang="en-US" sz="26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TextBlob</a:t>
            </a:r>
            <a:endParaRPr lang="en-US" sz="2600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Evaluate with weighted metrics &amp; confusion matrices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6678000" y="1966783"/>
            <a:ext cx="3648745" cy="681625"/>
            <a:chOff x="0" y="0"/>
            <a:chExt cx="960986" cy="179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0986" cy="179523"/>
            </a:xfrm>
            <a:custGeom>
              <a:avLst/>
              <a:gdLst/>
              <a:ahLst/>
              <a:cxnLst/>
              <a:rect l="l" t="t" r="r" b="b"/>
              <a:pathLst>
                <a:path w="960986" h="179523">
                  <a:moveTo>
                    <a:pt x="89761" y="0"/>
                  </a:moveTo>
                  <a:lnTo>
                    <a:pt x="871225" y="0"/>
                  </a:lnTo>
                  <a:cubicBezTo>
                    <a:pt x="895031" y="0"/>
                    <a:pt x="917862" y="9457"/>
                    <a:pt x="934696" y="26290"/>
                  </a:cubicBezTo>
                  <a:cubicBezTo>
                    <a:pt x="951529" y="43124"/>
                    <a:pt x="960986" y="65955"/>
                    <a:pt x="960986" y="89761"/>
                  </a:cubicBezTo>
                  <a:lnTo>
                    <a:pt x="960986" y="89761"/>
                  </a:lnTo>
                  <a:cubicBezTo>
                    <a:pt x="960986" y="113567"/>
                    <a:pt x="951529" y="136399"/>
                    <a:pt x="934696" y="153232"/>
                  </a:cubicBezTo>
                  <a:cubicBezTo>
                    <a:pt x="917862" y="170066"/>
                    <a:pt x="895031" y="179523"/>
                    <a:pt x="871225" y="179523"/>
                  </a:cubicBezTo>
                  <a:lnTo>
                    <a:pt x="89761" y="179523"/>
                  </a:lnTo>
                  <a:cubicBezTo>
                    <a:pt x="65955" y="179523"/>
                    <a:pt x="43124" y="170066"/>
                    <a:pt x="26290" y="153232"/>
                  </a:cubicBezTo>
                  <a:cubicBezTo>
                    <a:pt x="9457" y="136399"/>
                    <a:pt x="0" y="113567"/>
                    <a:pt x="0" y="89761"/>
                  </a:cubicBezTo>
                  <a:lnTo>
                    <a:pt x="0" y="89761"/>
                  </a:lnTo>
                  <a:cubicBezTo>
                    <a:pt x="0" y="65955"/>
                    <a:pt x="9457" y="43124"/>
                    <a:pt x="26290" y="26290"/>
                  </a:cubicBezTo>
                  <a:cubicBezTo>
                    <a:pt x="43124" y="9457"/>
                    <a:pt x="65955" y="0"/>
                    <a:pt x="89761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60986" cy="217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273772" y="631057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>
            <a:off x="8273772" y="1383843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Freeform 7"/>
          <p:cNvSpPr/>
          <p:nvPr/>
        </p:nvSpPr>
        <p:spPr>
          <a:xfrm>
            <a:off x="8273772" y="2100123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8" name="Freeform 8"/>
          <p:cNvSpPr/>
          <p:nvPr/>
        </p:nvSpPr>
        <p:spPr>
          <a:xfrm>
            <a:off x="1028700" y="8361880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9" name="Freeform 9"/>
          <p:cNvSpPr/>
          <p:nvPr/>
        </p:nvSpPr>
        <p:spPr>
          <a:xfrm rot="10435729">
            <a:off x="-696093" y="-3780464"/>
            <a:ext cx="7951775" cy="8527373"/>
          </a:xfrm>
          <a:custGeom>
            <a:avLst/>
            <a:gdLst/>
            <a:ahLst/>
            <a:cxnLst/>
            <a:rect l="l" t="t" r="r" b="b"/>
            <a:pathLst>
              <a:path w="7951775" h="8527373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0" name="Freeform 10"/>
          <p:cNvSpPr/>
          <p:nvPr/>
        </p:nvSpPr>
        <p:spPr>
          <a:xfrm>
            <a:off x="8273772" y="2813557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1" name="Freeform 11"/>
          <p:cNvSpPr/>
          <p:nvPr/>
        </p:nvSpPr>
        <p:spPr>
          <a:xfrm>
            <a:off x="8273772" y="3569487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12" name="Group 12"/>
          <p:cNvGrpSpPr/>
          <p:nvPr/>
        </p:nvGrpSpPr>
        <p:grpSpPr>
          <a:xfrm>
            <a:off x="7500835" y="4384747"/>
            <a:ext cx="10211240" cy="5717814"/>
            <a:chOff x="0" y="0"/>
            <a:chExt cx="2689380" cy="139933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689380" cy="1399331"/>
            </a:xfrm>
            <a:custGeom>
              <a:avLst/>
              <a:gdLst/>
              <a:ahLst/>
              <a:cxnLst/>
              <a:rect l="l" t="t" r="r" b="b"/>
              <a:pathLst>
                <a:path w="2689380" h="1399331">
                  <a:moveTo>
                    <a:pt x="15164" y="0"/>
                  </a:moveTo>
                  <a:lnTo>
                    <a:pt x="2674217" y="0"/>
                  </a:lnTo>
                  <a:cubicBezTo>
                    <a:pt x="2678238" y="0"/>
                    <a:pt x="2682095" y="1598"/>
                    <a:pt x="2684939" y="4441"/>
                  </a:cubicBezTo>
                  <a:cubicBezTo>
                    <a:pt x="2687783" y="7285"/>
                    <a:pt x="2689380" y="11142"/>
                    <a:pt x="2689380" y="15164"/>
                  </a:cubicBezTo>
                  <a:lnTo>
                    <a:pt x="2689380" y="1384168"/>
                  </a:lnTo>
                  <a:cubicBezTo>
                    <a:pt x="2689380" y="1388189"/>
                    <a:pt x="2687783" y="1392046"/>
                    <a:pt x="2684939" y="1394890"/>
                  </a:cubicBezTo>
                  <a:cubicBezTo>
                    <a:pt x="2682095" y="1397734"/>
                    <a:pt x="2678238" y="1399331"/>
                    <a:pt x="2674217" y="1399331"/>
                  </a:cubicBezTo>
                  <a:lnTo>
                    <a:pt x="15164" y="1399331"/>
                  </a:lnTo>
                  <a:cubicBezTo>
                    <a:pt x="11142" y="1399331"/>
                    <a:pt x="7285" y="1397734"/>
                    <a:pt x="4441" y="1394890"/>
                  </a:cubicBezTo>
                  <a:cubicBezTo>
                    <a:pt x="1598" y="1392046"/>
                    <a:pt x="0" y="1388189"/>
                    <a:pt x="0" y="1384168"/>
                  </a:cubicBezTo>
                  <a:lnTo>
                    <a:pt x="0" y="15164"/>
                  </a:lnTo>
                  <a:cubicBezTo>
                    <a:pt x="0" y="11142"/>
                    <a:pt x="1598" y="7285"/>
                    <a:pt x="4441" y="4441"/>
                  </a:cubicBezTo>
                  <a:cubicBezTo>
                    <a:pt x="7285" y="1598"/>
                    <a:pt x="11142" y="0"/>
                    <a:pt x="15164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689380" cy="1437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069144" y="573907"/>
            <a:ext cx="5199649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3,176 REVIEWS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6143625"/>
            <a:ext cx="5853180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</a:t>
            </a:r>
          </a:p>
          <a:p>
            <a:pPr algn="ctr">
              <a:lnSpc>
                <a:spcPts val="6600"/>
              </a:lnSpc>
            </a:pPr>
            <a:r>
              <a:rPr lang="en-US" sz="6000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OVERVIEW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75873" y="911865"/>
            <a:ext cx="4586491" cy="273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0"/>
              </a:lnSpc>
              <a:spcBef>
                <a:spcPct val="0"/>
              </a:spcBef>
            </a:pPr>
            <a:r>
              <a:rPr lang="en-US" sz="26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We load train and test CSVs and compute statistics programmatically to ensure reproducibility. We also optionally apply index files to match the required subset.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69144" y="1326693"/>
            <a:ext cx="5199649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Avg rating: 4.011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69144" y="2085976"/>
            <a:ext cx="5199649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Median: 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69144" y="2799409"/>
            <a:ext cx="5199649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406 users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069144" y="3598342"/>
            <a:ext cx="5199649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31 products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77BB581-72D8-05FE-E0DA-B9D192E666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338" y="4587378"/>
            <a:ext cx="9937069" cy="52163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9619" y="6103266"/>
            <a:ext cx="11862665" cy="3551695"/>
            <a:chOff x="0" y="0"/>
            <a:chExt cx="3124323" cy="9354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24323" cy="935426"/>
            </a:xfrm>
            <a:custGeom>
              <a:avLst/>
              <a:gdLst/>
              <a:ahLst/>
              <a:cxnLst/>
              <a:rect l="l" t="t" r="r" b="b"/>
              <a:pathLst>
                <a:path w="3124323" h="935426">
                  <a:moveTo>
                    <a:pt x="13053" y="0"/>
                  </a:moveTo>
                  <a:lnTo>
                    <a:pt x="3111271" y="0"/>
                  </a:lnTo>
                  <a:cubicBezTo>
                    <a:pt x="3114732" y="0"/>
                    <a:pt x="3118053" y="1375"/>
                    <a:pt x="3120500" y="3823"/>
                  </a:cubicBezTo>
                  <a:cubicBezTo>
                    <a:pt x="3122948" y="6271"/>
                    <a:pt x="3124323" y="9591"/>
                    <a:pt x="3124323" y="13053"/>
                  </a:cubicBezTo>
                  <a:lnTo>
                    <a:pt x="3124323" y="922373"/>
                  </a:lnTo>
                  <a:cubicBezTo>
                    <a:pt x="3124323" y="925835"/>
                    <a:pt x="3122948" y="929155"/>
                    <a:pt x="3120500" y="931603"/>
                  </a:cubicBezTo>
                  <a:cubicBezTo>
                    <a:pt x="3118053" y="934051"/>
                    <a:pt x="3114732" y="935426"/>
                    <a:pt x="3111271" y="935426"/>
                  </a:cubicBezTo>
                  <a:lnTo>
                    <a:pt x="13053" y="935426"/>
                  </a:lnTo>
                  <a:cubicBezTo>
                    <a:pt x="9591" y="935426"/>
                    <a:pt x="6271" y="934051"/>
                    <a:pt x="3823" y="931603"/>
                  </a:cubicBezTo>
                  <a:cubicBezTo>
                    <a:pt x="1375" y="929155"/>
                    <a:pt x="0" y="925835"/>
                    <a:pt x="0" y="922373"/>
                  </a:cubicBezTo>
                  <a:lnTo>
                    <a:pt x="0" y="13053"/>
                  </a:lnTo>
                  <a:cubicBezTo>
                    <a:pt x="0" y="9591"/>
                    <a:pt x="1375" y="6271"/>
                    <a:pt x="3823" y="3823"/>
                  </a:cubicBezTo>
                  <a:cubicBezTo>
                    <a:pt x="6271" y="1375"/>
                    <a:pt x="9591" y="0"/>
                    <a:pt x="13053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124323" cy="9735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2181579">
            <a:off x="10994554" y="-59054"/>
            <a:ext cx="10128448" cy="10895890"/>
          </a:xfrm>
          <a:custGeom>
            <a:avLst/>
            <a:gdLst/>
            <a:ahLst/>
            <a:cxnLst/>
            <a:rect l="l" t="t" r="r" b="b"/>
            <a:pathLst>
              <a:path w="10128448" h="10895890">
                <a:moveTo>
                  <a:pt x="0" y="0"/>
                </a:moveTo>
                <a:lnTo>
                  <a:pt x="10128448" y="0"/>
                </a:lnTo>
                <a:lnTo>
                  <a:pt x="10128448" y="10895890"/>
                </a:lnTo>
                <a:lnTo>
                  <a:pt x="0" y="108958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7" r="-157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>
            <a:off x="-2280473" y="7962921"/>
            <a:ext cx="5747719" cy="3384081"/>
          </a:xfrm>
          <a:custGeom>
            <a:avLst/>
            <a:gdLst/>
            <a:ahLst/>
            <a:cxnLst/>
            <a:rect l="l" t="t" r="r" b="b"/>
            <a:pathLst>
              <a:path w="5747719" h="3384081">
                <a:moveTo>
                  <a:pt x="0" y="0"/>
                </a:moveTo>
                <a:lnTo>
                  <a:pt x="5747720" y="0"/>
                </a:lnTo>
                <a:lnTo>
                  <a:pt x="5747720" y="3384080"/>
                </a:lnTo>
                <a:lnTo>
                  <a:pt x="0" y="338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302" b="-143185"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7" name="Group 7"/>
          <p:cNvGrpSpPr/>
          <p:nvPr/>
        </p:nvGrpSpPr>
        <p:grpSpPr>
          <a:xfrm>
            <a:off x="9113418" y="-92066"/>
            <a:ext cx="8229600" cy="822960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29681" y="25278"/>
            <a:ext cx="6529097" cy="652909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018289" y="144358"/>
            <a:ext cx="4606904" cy="4606904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5400000">
            <a:off x="321557" y="2655489"/>
            <a:ext cx="736125" cy="681625"/>
            <a:chOff x="0" y="0"/>
            <a:chExt cx="193877" cy="17952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3877" cy="179523"/>
            </a:xfrm>
            <a:custGeom>
              <a:avLst/>
              <a:gdLst/>
              <a:ahLst/>
              <a:cxnLst/>
              <a:rect l="l" t="t" r="r" b="b"/>
              <a:pathLst>
                <a:path w="193877" h="179523">
                  <a:moveTo>
                    <a:pt x="89761" y="0"/>
                  </a:moveTo>
                  <a:lnTo>
                    <a:pt x="104115" y="0"/>
                  </a:lnTo>
                  <a:cubicBezTo>
                    <a:pt x="127921" y="0"/>
                    <a:pt x="150753" y="9457"/>
                    <a:pt x="167586" y="26290"/>
                  </a:cubicBezTo>
                  <a:cubicBezTo>
                    <a:pt x="184420" y="43124"/>
                    <a:pt x="193877" y="65955"/>
                    <a:pt x="193877" y="89761"/>
                  </a:cubicBezTo>
                  <a:lnTo>
                    <a:pt x="193877" y="89761"/>
                  </a:lnTo>
                  <a:cubicBezTo>
                    <a:pt x="193877" y="113567"/>
                    <a:pt x="184420" y="136399"/>
                    <a:pt x="167586" y="153232"/>
                  </a:cubicBezTo>
                  <a:cubicBezTo>
                    <a:pt x="150753" y="170066"/>
                    <a:pt x="127921" y="179523"/>
                    <a:pt x="104115" y="179523"/>
                  </a:cubicBezTo>
                  <a:lnTo>
                    <a:pt x="89761" y="179523"/>
                  </a:lnTo>
                  <a:cubicBezTo>
                    <a:pt x="65955" y="179523"/>
                    <a:pt x="43124" y="170066"/>
                    <a:pt x="26290" y="153232"/>
                  </a:cubicBezTo>
                  <a:cubicBezTo>
                    <a:pt x="9457" y="136399"/>
                    <a:pt x="0" y="113567"/>
                    <a:pt x="0" y="89761"/>
                  </a:cubicBezTo>
                  <a:lnTo>
                    <a:pt x="0" y="89761"/>
                  </a:lnTo>
                  <a:cubicBezTo>
                    <a:pt x="0" y="65955"/>
                    <a:pt x="9457" y="43124"/>
                    <a:pt x="26290" y="26290"/>
                  </a:cubicBezTo>
                  <a:cubicBezTo>
                    <a:pt x="43124" y="9457"/>
                    <a:pt x="65955" y="0"/>
                    <a:pt x="89761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93877" cy="217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461019" y="2776073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0" name="Freeform 20"/>
          <p:cNvSpPr/>
          <p:nvPr/>
        </p:nvSpPr>
        <p:spPr>
          <a:xfrm>
            <a:off x="1028700" y="6362548"/>
            <a:ext cx="11301259" cy="3136099"/>
          </a:xfrm>
          <a:custGeom>
            <a:avLst/>
            <a:gdLst/>
            <a:ahLst/>
            <a:cxnLst/>
            <a:rect l="l" t="t" r="r" b="b"/>
            <a:pathLst>
              <a:path w="11301259" h="3136099">
                <a:moveTo>
                  <a:pt x="0" y="0"/>
                </a:moveTo>
                <a:lnTo>
                  <a:pt x="11301259" y="0"/>
                </a:lnTo>
                <a:lnTo>
                  <a:pt x="11301259" y="3136099"/>
                </a:lnTo>
                <a:lnTo>
                  <a:pt x="0" y="31360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2" name="TextBox 22"/>
          <p:cNvSpPr txBox="1"/>
          <p:nvPr/>
        </p:nvSpPr>
        <p:spPr>
          <a:xfrm>
            <a:off x="1361773" y="2654581"/>
            <a:ext cx="6484675" cy="273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5-star reviews dominate → strong class imbalance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This imbalance influences evaluation, which is why we use weighted metrics, not just accuracy.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09530" y="298319"/>
            <a:ext cx="5886506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RATINGS DISTRIBUTION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54CE42C-DB4C-5FB3-4147-17EAC7BB85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9256" y="836913"/>
            <a:ext cx="8705463" cy="65290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6844491" y="-3015084"/>
            <a:ext cx="9744477" cy="7040385"/>
          </a:xfrm>
          <a:custGeom>
            <a:avLst/>
            <a:gdLst/>
            <a:ahLst/>
            <a:cxnLst/>
            <a:rect l="l" t="t" r="r" b="b"/>
            <a:pathLst>
              <a:path w="9744477" h="7040385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760535" y="4910099"/>
            <a:ext cx="705511" cy="722674"/>
          </a:xfrm>
          <a:custGeom>
            <a:avLst/>
            <a:gdLst/>
            <a:ahLst/>
            <a:cxnLst/>
            <a:rect l="l" t="t" r="r" b="b"/>
            <a:pathLst>
              <a:path w="705511" h="722674">
                <a:moveTo>
                  <a:pt x="0" y="0"/>
                </a:moveTo>
                <a:lnTo>
                  <a:pt x="705510" y="0"/>
                </a:lnTo>
                <a:lnTo>
                  <a:pt x="705510" y="722674"/>
                </a:lnTo>
                <a:lnTo>
                  <a:pt x="0" y="722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4" name="Group 4"/>
          <p:cNvGrpSpPr/>
          <p:nvPr/>
        </p:nvGrpSpPr>
        <p:grpSpPr>
          <a:xfrm>
            <a:off x="137905" y="5920380"/>
            <a:ext cx="11814262" cy="4181554"/>
            <a:chOff x="0" y="0"/>
            <a:chExt cx="3111575" cy="11013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11575" cy="1101315"/>
            </a:xfrm>
            <a:custGeom>
              <a:avLst/>
              <a:gdLst/>
              <a:ahLst/>
              <a:cxnLst/>
              <a:rect l="l" t="t" r="r" b="b"/>
              <a:pathLst>
                <a:path w="3111575" h="1101315">
                  <a:moveTo>
                    <a:pt x="13106" y="0"/>
                  </a:moveTo>
                  <a:lnTo>
                    <a:pt x="3098469" y="0"/>
                  </a:lnTo>
                  <a:cubicBezTo>
                    <a:pt x="3101945" y="0"/>
                    <a:pt x="3105279" y="1381"/>
                    <a:pt x="3107736" y="3839"/>
                  </a:cubicBezTo>
                  <a:cubicBezTo>
                    <a:pt x="3110194" y="6297"/>
                    <a:pt x="3111575" y="9630"/>
                    <a:pt x="3111575" y="13106"/>
                  </a:cubicBezTo>
                  <a:lnTo>
                    <a:pt x="3111575" y="1088209"/>
                  </a:lnTo>
                  <a:cubicBezTo>
                    <a:pt x="3111575" y="1095447"/>
                    <a:pt x="3105707" y="1101315"/>
                    <a:pt x="3098469" y="1101315"/>
                  </a:cubicBezTo>
                  <a:lnTo>
                    <a:pt x="13106" y="1101315"/>
                  </a:lnTo>
                  <a:cubicBezTo>
                    <a:pt x="9630" y="1101315"/>
                    <a:pt x="6297" y="1099934"/>
                    <a:pt x="3839" y="1097476"/>
                  </a:cubicBezTo>
                  <a:cubicBezTo>
                    <a:pt x="1381" y="1095018"/>
                    <a:pt x="0" y="1091685"/>
                    <a:pt x="0" y="1088209"/>
                  </a:cubicBezTo>
                  <a:lnTo>
                    <a:pt x="0" y="13106"/>
                  </a:lnTo>
                  <a:cubicBezTo>
                    <a:pt x="0" y="9630"/>
                    <a:pt x="1381" y="6297"/>
                    <a:pt x="3839" y="3839"/>
                  </a:cubicBezTo>
                  <a:cubicBezTo>
                    <a:pt x="6297" y="1381"/>
                    <a:pt x="9630" y="0"/>
                    <a:pt x="13106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111575" cy="11394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812798" y="293810"/>
            <a:ext cx="12662405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&amp; USER SPARSITY</a:t>
            </a: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11010799" y="6802741"/>
            <a:ext cx="3015928" cy="675993"/>
            <a:chOff x="0" y="0"/>
            <a:chExt cx="574789" cy="17803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74789" cy="178039"/>
            </a:xfrm>
            <a:custGeom>
              <a:avLst/>
              <a:gdLst/>
              <a:ahLst/>
              <a:cxnLst/>
              <a:rect l="l" t="t" r="r" b="b"/>
              <a:pathLst>
                <a:path w="574789" h="178039">
                  <a:moveTo>
                    <a:pt x="89020" y="0"/>
                  </a:moveTo>
                  <a:lnTo>
                    <a:pt x="485770" y="0"/>
                  </a:lnTo>
                  <a:cubicBezTo>
                    <a:pt x="534934" y="0"/>
                    <a:pt x="574789" y="39855"/>
                    <a:pt x="574789" y="89020"/>
                  </a:cubicBezTo>
                  <a:lnTo>
                    <a:pt x="574789" y="89020"/>
                  </a:lnTo>
                  <a:cubicBezTo>
                    <a:pt x="574789" y="112629"/>
                    <a:pt x="565411" y="135272"/>
                    <a:pt x="548716" y="151966"/>
                  </a:cubicBezTo>
                  <a:cubicBezTo>
                    <a:pt x="532022" y="168660"/>
                    <a:pt x="509379" y="178039"/>
                    <a:pt x="485770" y="178039"/>
                  </a:cubicBezTo>
                  <a:lnTo>
                    <a:pt x="89020" y="178039"/>
                  </a:lnTo>
                  <a:cubicBezTo>
                    <a:pt x="39855" y="178039"/>
                    <a:pt x="0" y="138184"/>
                    <a:pt x="0" y="89020"/>
                  </a:cubicBezTo>
                  <a:lnTo>
                    <a:pt x="0" y="89020"/>
                  </a:lnTo>
                  <a:cubicBezTo>
                    <a:pt x="0" y="39855"/>
                    <a:pt x="39855" y="0"/>
                    <a:pt x="89020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74789" cy="2161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2292979" y="6472770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8" name="Freeform 18"/>
          <p:cNvSpPr/>
          <p:nvPr/>
        </p:nvSpPr>
        <p:spPr>
          <a:xfrm>
            <a:off x="12292979" y="7274231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9" name="Freeform 19"/>
          <p:cNvSpPr/>
          <p:nvPr/>
        </p:nvSpPr>
        <p:spPr>
          <a:xfrm>
            <a:off x="12292979" y="7935362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0" name="Freeform 20"/>
          <p:cNvSpPr/>
          <p:nvPr/>
        </p:nvSpPr>
        <p:spPr>
          <a:xfrm>
            <a:off x="468449" y="6161370"/>
            <a:ext cx="5242687" cy="3721113"/>
          </a:xfrm>
          <a:custGeom>
            <a:avLst/>
            <a:gdLst/>
            <a:ahLst/>
            <a:cxnLst/>
            <a:rect l="l" t="t" r="r" b="b"/>
            <a:pathLst>
              <a:path w="5242687" h="3721113">
                <a:moveTo>
                  <a:pt x="0" y="0"/>
                </a:moveTo>
                <a:lnTo>
                  <a:pt x="5242688" y="0"/>
                </a:lnTo>
                <a:lnTo>
                  <a:pt x="5242688" y="3721113"/>
                </a:lnTo>
                <a:lnTo>
                  <a:pt x="0" y="37211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84170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1" name="Freeform 21"/>
          <p:cNvSpPr/>
          <p:nvPr/>
        </p:nvSpPr>
        <p:spPr>
          <a:xfrm>
            <a:off x="6459902" y="6161370"/>
            <a:ext cx="5368529" cy="3744549"/>
          </a:xfrm>
          <a:custGeom>
            <a:avLst/>
            <a:gdLst/>
            <a:ahLst/>
            <a:cxnLst/>
            <a:rect l="l" t="t" r="r" b="b"/>
            <a:pathLst>
              <a:path w="5368529" h="3744549">
                <a:moveTo>
                  <a:pt x="0" y="0"/>
                </a:moveTo>
                <a:lnTo>
                  <a:pt x="5368529" y="0"/>
                </a:lnTo>
                <a:lnTo>
                  <a:pt x="5368529" y="3744549"/>
                </a:lnTo>
                <a:lnTo>
                  <a:pt x="0" y="37445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2" name="TextBox 22"/>
          <p:cNvSpPr txBox="1"/>
          <p:nvPr/>
        </p:nvSpPr>
        <p:spPr>
          <a:xfrm>
            <a:off x="13088351" y="8519773"/>
            <a:ext cx="5276624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The dataset has a long-tail distribution and sparse interactions across both products and users.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088351" y="5775719"/>
            <a:ext cx="5199649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Median reviews per product = 8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088351" y="6528506"/>
            <a:ext cx="5199649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Mean reviews per product = 102.45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088351" y="7287788"/>
            <a:ext cx="5199649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Mean reviews per user = 8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F8E1D0D-DCB9-6898-C14D-97EBD1DB6A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27" y="1373894"/>
            <a:ext cx="5561896" cy="4171422"/>
          </a:xfrm>
          <a:prstGeom prst="rect">
            <a:avLst/>
          </a:prstGeom>
        </p:spPr>
      </p:pic>
      <p:sp>
        <p:nvSpPr>
          <p:cNvPr id="13" name="Freeform 13"/>
          <p:cNvSpPr/>
          <p:nvPr/>
        </p:nvSpPr>
        <p:spPr>
          <a:xfrm>
            <a:off x="78783" y="1012557"/>
            <a:ext cx="717254" cy="722674"/>
          </a:xfrm>
          <a:custGeom>
            <a:avLst/>
            <a:gdLst/>
            <a:ahLst/>
            <a:cxnLst/>
            <a:rect l="l" t="t" r="r" b="b"/>
            <a:pathLst>
              <a:path w="717254" h="722674">
                <a:moveTo>
                  <a:pt x="0" y="0"/>
                </a:moveTo>
                <a:lnTo>
                  <a:pt x="717254" y="0"/>
                </a:lnTo>
                <a:lnTo>
                  <a:pt x="717254" y="722675"/>
                </a:lnTo>
                <a:lnTo>
                  <a:pt x="0" y="7226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DDA749B-6D35-5B4C-1772-41E65F241A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595" y="1391212"/>
            <a:ext cx="5538805" cy="4154104"/>
          </a:xfrm>
          <a:prstGeom prst="rect">
            <a:avLst/>
          </a:prstGeom>
        </p:spPr>
      </p:pic>
      <p:sp>
        <p:nvSpPr>
          <p:cNvPr id="12" name="Freeform 12"/>
          <p:cNvSpPr/>
          <p:nvPr/>
        </p:nvSpPr>
        <p:spPr>
          <a:xfrm>
            <a:off x="6047354" y="1012557"/>
            <a:ext cx="717254" cy="722674"/>
          </a:xfrm>
          <a:custGeom>
            <a:avLst/>
            <a:gdLst/>
            <a:ahLst/>
            <a:cxnLst/>
            <a:rect l="l" t="t" r="r" b="b"/>
            <a:pathLst>
              <a:path w="717254" h="722674">
                <a:moveTo>
                  <a:pt x="0" y="0"/>
                </a:moveTo>
                <a:lnTo>
                  <a:pt x="717254" y="0"/>
                </a:lnTo>
                <a:lnTo>
                  <a:pt x="717254" y="722675"/>
                </a:lnTo>
                <a:lnTo>
                  <a:pt x="0" y="7226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B47B18D-F395-0102-A288-5487D6C43B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6237" y="1365569"/>
            <a:ext cx="5586851" cy="4190138"/>
          </a:xfrm>
          <a:prstGeom prst="rect">
            <a:avLst/>
          </a:prstGeom>
        </p:spPr>
      </p:pic>
      <p:sp>
        <p:nvSpPr>
          <p:cNvPr id="10" name="Freeform 10"/>
          <p:cNvSpPr/>
          <p:nvPr/>
        </p:nvSpPr>
        <p:spPr>
          <a:xfrm>
            <a:off x="12107500" y="1012557"/>
            <a:ext cx="717254" cy="722674"/>
          </a:xfrm>
          <a:custGeom>
            <a:avLst/>
            <a:gdLst/>
            <a:ahLst/>
            <a:cxnLst/>
            <a:rect l="l" t="t" r="r" b="b"/>
            <a:pathLst>
              <a:path w="717254" h="722674">
                <a:moveTo>
                  <a:pt x="0" y="0"/>
                </a:moveTo>
                <a:lnTo>
                  <a:pt x="717255" y="0"/>
                </a:lnTo>
                <a:lnTo>
                  <a:pt x="717255" y="722675"/>
                </a:lnTo>
                <a:lnTo>
                  <a:pt x="0" y="7226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2" name="Freeform 17">
            <a:extLst>
              <a:ext uri="{FF2B5EF4-FFF2-40B4-BE49-F238E27FC236}">
                <a16:creationId xmlns:a16="http://schemas.microsoft.com/office/drawing/2014/main" id="{56354DEE-AE71-26F9-1300-8CB03E012D46}"/>
              </a:ext>
            </a:extLst>
          </p:cNvPr>
          <p:cNvSpPr/>
          <p:nvPr/>
        </p:nvSpPr>
        <p:spPr>
          <a:xfrm>
            <a:off x="12282711" y="5730765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3" name="TextBox 25">
            <a:extLst>
              <a:ext uri="{FF2B5EF4-FFF2-40B4-BE49-F238E27FC236}">
                <a16:creationId xmlns:a16="http://schemas.microsoft.com/office/drawing/2014/main" id="{F8BA04A5-0B18-FCCF-2128-D5AA9EFF0114}"/>
              </a:ext>
            </a:extLst>
          </p:cNvPr>
          <p:cNvSpPr txBox="1"/>
          <p:nvPr/>
        </p:nvSpPr>
        <p:spPr>
          <a:xfrm>
            <a:off x="13088351" y="7963229"/>
            <a:ext cx="5199649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Mean reviews per user = 7.82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9DF4F0-FD02-0150-7290-4C58995FF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07600F3-E186-90C7-EB7C-A86F5DB7E740}"/>
              </a:ext>
            </a:extLst>
          </p:cNvPr>
          <p:cNvSpPr/>
          <p:nvPr/>
        </p:nvSpPr>
        <p:spPr>
          <a:xfrm rot="-10800000">
            <a:off x="-6844491" y="-3015084"/>
            <a:ext cx="9744477" cy="7040385"/>
          </a:xfrm>
          <a:custGeom>
            <a:avLst/>
            <a:gdLst/>
            <a:ahLst/>
            <a:cxnLst/>
            <a:rect l="l" t="t" r="r" b="b"/>
            <a:pathLst>
              <a:path w="9744477" h="7040385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2B0A155-3B43-8959-069B-2DBF2E632741}"/>
              </a:ext>
            </a:extLst>
          </p:cNvPr>
          <p:cNvGrpSpPr/>
          <p:nvPr/>
        </p:nvGrpSpPr>
        <p:grpSpPr>
          <a:xfrm>
            <a:off x="137905" y="5920380"/>
            <a:ext cx="6948695" cy="4181554"/>
            <a:chOff x="0" y="0"/>
            <a:chExt cx="3111575" cy="110131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1833CA6-8EF0-9074-C95A-32E2DE98A196}"/>
                </a:ext>
              </a:extLst>
            </p:cNvPr>
            <p:cNvSpPr/>
            <p:nvPr/>
          </p:nvSpPr>
          <p:spPr>
            <a:xfrm>
              <a:off x="0" y="0"/>
              <a:ext cx="3111575" cy="1101315"/>
            </a:xfrm>
            <a:custGeom>
              <a:avLst/>
              <a:gdLst/>
              <a:ahLst/>
              <a:cxnLst/>
              <a:rect l="l" t="t" r="r" b="b"/>
              <a:pathLst>
                <a:path w="3111575" h="1101315">
                  <a:moveTo>
                    <a:pt x="13106" y="0"/>
                  </a:moveTo>
                  <a:lnTo>
                    <a:pt x="3098469" y="0"/>
                  </a:lnTo>
                  <a:cubicBezTo>
                    <a:pt x="3101945" y="0"/>
                    <a:pt x="3105279" y="1381"/>
                    <a:pt x="3107736" y="3839"/>
                  </a:cubicBezTo>
                  <a:cubicBezTo>
                    <a:pt x="3110194" y="6297"/>
                    <a:pt x="3111575" y="9630"/>
                    <a:pt x="3111575" y="13106"/>
                  </a:cubicBezTo>
                  <a:lnTo>
                    <a:pt x="3111575" y="1088209"/>
                  </a:lnTo>
                  <a:cubicBezTo>
                    <a:pt x="3111575" y="1095447"/>
                    <a:pt x="3105707" y="1101315"/>
                    <a:pt x="3098469" y="1101315"/>
                  </a:cubicBezTo>
                  <a:lnTo>
                    <a:pt x="13106" y="1101315"/>
                  </a:lnTo>
                  <a:cubicBezTo>
                    <a:pt x="9630" y="1101315"/>
                    <a:pt x="6297" y="1099934"/>
                    <a:pt x="3839" y="1097476"/>
                  </a:cubicBezTo>
                  <a:cubicBezTo>
                    <a:pt x="1381" y="1095018"/>
                    <a:pt x="0" y="1091685"/>
                    <a:pt x="0" y="1088209"/>
                  </a:cubicBezTo>
                  <a:lnTo>
                    <a:pt x="0" y="13106"/>
                  </a:lnTo>
                  <a:cubicBezTo>
                    <a:pt x="0" y="9630"/>
                    <a:pt x="1381" y="6297"/>
                    <a:pt x="3839" y="3839"/>
                  </a:cubicBezTo>
                  <a:cubicBezTo>
                    <a:pt x="6297" y="1381"/>
                    <a:pt x="9630" y="0"/>
                    <a:pt x="13106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9C395E9A-1A5B-422A-D17B-D1203D88A5FB}"/>
                </a:ext>
              </a:extLst>
            </p:cNvPr>
            <p:cNvSpPr txBox="1"/>
            <p:nvPr/>
          </p:nvSpPr>
          <p:spPr>
            <a:xfrm>
              <a:off x="0" y="-38100"/>
              <a:ext cx="3111575" cy="11394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2EC5C76E-EACE-2E87-A1D3-CC56111AAA80}"/>
              </a:ext>
            </a:extLst>
          </p:cNvPr>
          <p:cNvSpPr txBox="1"/>
          <p:nvPr/>
        </p:nvSpPr>
        <p:spPr>
          <a:xfrm>
            <a:off x="2812798" y="293810"/>
            <a:ext cx="12662405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&amp; USER SPARSITY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16C488-3B9B-EB04-AD23-2BAAB9406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849" y="1190456"/>
            <a:ext cx="9144018" cy="4572009"/>
          </a:xfrm>
          <a:prstGeom prst="rect">
            <a:avLst/>
          </a:prstGeom>
        </p:spPr>
      </p:pic>
      <p:sp>
        <p:nvSpPr>
          <p:cNvPr id="12" name="Freeform 12">
            <a:extLst>
              <a:ext uri="{FF2B5EF4-FFF2-40B4-BE49-F238E27FC236}">
                <a16:creationId xmlns:a16="http://schemas.microsoft.com/office/drawing/2014/main" id="{4DD281DC-1F64-D2A6-922C-F2EAC853B8F8}"/>
              </a:ext>
            </a:extLst>
          </p:cNvPr>
          <p:cNvSpPr/>
          <p:nvPr/>
        </p:nvSpPr>
        <p:spPr>
          <a:xfrm>
            <a:off x="7690222" y="935356"/>
            <a:ext cx="717254" cy="722674"/>
          </a:xfrm>
          <a:custGeom>
            <a:avLst/>
            <a:gdLst/>
            <a:ahLst/>
            <a:cxnLst/>
            <a:rect l="l" t="t" r="r" b="b"/>
            <a:pathLst>
              <a:path w="717254" h="722674">
                <a:moveTo>
                  <a:pt x="0" y="0"/>
                </a:moveTo>
                <a:lnTo>
                  <a:pt x="717254" y="0"/>
                </a:lnTo>
                <a:lnTo>
                  <a:pt x="717254" y="722675"/>
                </a:lnTo>
                <a:lnTo>
                  <a:pt x="0" y="7226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A1DA4ED-0EAA-D194-AED3-07DE4EA320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6078208"/>
            <a:ext cx="5868865" cy="3721236"/>
          </a:xfrm>
          <a:prstGeom prst="rect">
            <a:avLst/>
          </a:prstGeom>
        </p:spPr>
      </p:pic>
      <p:sp>
        <p:nvSpPr>
          <p:cNvPr id="28" name="TextBox 23">
            <a:extLst>
              <a:ext uri="{FF2B5EF4-FFF2-40B4-BE49-F238E27FC236}">
                <a16:creationId xmlns:a16="http://schemas.microsoft.com/office/drawing/2014/main" id="{6983990F-D565-0A3D-B5F5-24C84F20FE94}"/>
              </a:ext>
            </a:extLst>
          </p:cNvPr>
          <p:cNvSpPr txBox="1"/>
          <p:nvPr/>
        </p:nvSpPr>
        <p:spPr>
          <a:xfrm>
            <a:off x="7848600" y="6456651"/>
            <a:ext cx="7626603" cy="404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Top reviewed products are not equally distributed.</a:t>
            </a:r>
            <a:endParaRPr lang="en-US" sz="25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30" name="TextBox 23">
            <a:extLst>
              <a:ext uri="{FF2B5EF4-FFF2-40B4-BE49-F238E27FC236}">
                <a16:creationId xmlns:a16="http://schemas.microsoft.com/office/drawing/2014/main" id="{6E63A4DE-D126-0AE4-E57C-1060E3DDA71C}"/>
              </a:ext>
            </a:extLst>
          </p:cNvPr>
          <p:cNvSpPr txBox="1"/>
          <p:nvPr/>
        </p:nvSpPr>
        <p:spPr>
          <a:xfrm>
            <a:off x="7848600" y="7353296"/>
            <a:ext cx="7626603" cy="404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Some ASINs have very high review counts.</a:t>
            </a:r>
          </a:p>
        </p:txBody>
      </p:sp>
      <p:sp>
        <p:nvSpPr>
          <p:cNvPr id="34" name="TextBox 23">
            <a:extLst>
              <a:ext uri="{FF2B5EF4-FFF2-40B4-BE49-F238E27FC236}">
                <a16:creationId xmlns:a16="http://schemas.microsoft.com/office/drawing/2014/main" id="{48934850-D05D-BC4F-5EEB-E6E23FF3DA2F}"/>
              </a:ext>
            </a:extLst>
          </p:cNvPr>
          <p:cNvSpPr txBox="1"/>
          <p:nvPr/>
        </p:nvSpPr>
        <p:spPr>
          <a:xfrm>
            <a:off x="7848600" y="8249941"/>
            <a:ext cx="7626603" cy="404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Others in the top 10 have much lower counts.</a:t>
            </a:r>
          </a:p>
        </p:txBody>
      </p:sp>
      <p:sp>
        <p:nvSpPr>
          <p:cNvPr id="35" name="TextBox 23">
            <a:extLst>
              <a:ext uri="{FF2B5EF4-FFF2-40B4-BE49-F238E27FC236}">
                <a16:creationId xmlns:a16="http://schemas.microsoft.com/office/drawing/2014/main" id="{0E2F446D-4E3A-9899-DA05-3B8A80B8E4DB}"/>
              </a:ext>
            </a:extLst>
          </p:cNvPr>
          <p:cNvSpPr txBox="1"/>
          <p:nvPr/>
        </p:nvSpPr>
        <p:spPr>
          <a:xfrm>
            <a:off x="7848600" y="9149184"/>
            <a:ext cx="7626603" cy="404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A small number of products dominate review activity.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DC1DA34-3A3C-78FF-899D-71F0ABD955FF}"/>
              </a:ext>
            </a:extLst>
          </p:cNvPr>
          <p:cNvSpPr/>
          <p:nvPr/>
        </p:nvSpPr>
        <p:spPr>
          <a:xfrm>
            <a:off x="6651893" y="5559043"/>
            <a:ext cx="705511" cy="722674"/>
          </a:xfrm>
          <a:custGeom>
            <a:avLst/>
            <a:gdLst/>
            <a:ahLst/>
            <a:cxnLst/>
            <a:rect l="l" t="t" r="r" b="b"/>
            <a:pathLst>
              <a:path w="705511" h="722674">
                <a:moveTo>
                  <a:pt x="0" y="0"/>
                </a:moveTo>
                <a:lnTo>
                  <a:pt x="705510" y="0"/>
                </a:lnTo>
                <a:lnTo>
                  <a:pt x="705510" y="722674"/>
                </a:lnTo>
                <a:lnTo>
                  <a:pt x="0" y="7226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6045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6844491" y="-3015084"/>
            <a:ext cx="9744477" cy="7040385"/>
          </a:xfrm>
          <a:custGeom>
            <a:avLst/>
            <a:gdLst/>
            <a:ahLst/>
            <a:cxnLst/>
            <a:rect l="l" t="t" r="r" b="b"/>
            <a:pathLst>
              <a:path w="9744477" h="7040385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760535" y="4910099"/>
            <a:ext cx="705511" cy="722674"/>
          </a:xfrm>
          <a:custGeom>
            <a:avLst/>
            <a:gdLst/>
            <a:ahLst/>
            <a:cxnLst/>
            <a:rect l="l" t="t" r="r" b="b"/>
            <a:pathLst>
              <a:path w="705511" h="722674">
                <a:moveTo>
                  <a:pt x="0" y="0"/>
                </a:moveTo>
                <a:lnTo>
                  <a:pt x="705510" y="0"/>
                </a:lnTo>
                <a:lnTo>
                  <a:pt x="705510" y="722674"/>
                </a:lnTo>
                <a:lnTo>
                  <a:pt x="0" y="722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TextBox 4"/>
          <p:cNvSpPr txBox="1"/>
          <p:nvPr/>
        </p:nvSpPr>
        <p:spPr>
          <a:xfrm>
            <a:off x="2812798" y="293810"/>
            <a:ext cx="12662405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REVIEW LENGTH &amp; OUTLIERS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92945" y="5632773"/>
            <a:ext cx="11817464" cy="4447820"/>
            <a:chOff x="0" y="0"/>
            <a:chExt cx="3112419" cy="11714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12419" cy="1171442"/>
            </a:xfrm>
            <a:custGeom>
              <a:avLst/>
              <a:gdLst/>
              <a:ahLst/>
              <a:cxnLst/>
              <a:rect l="l" t="t" r="r" b="b"/>
              <a:pathLst>
                <a:path w="3112419" h="1171442">
                  <a:moveTo>
                    <a:pt x="13103" y="0"/>
                  </a:moveTo>
                  <a:lnTo>
                    <a:pt x="3099316" y="0"/>
                  </a:lnTo>
                  <a:cubicBezTo>
                    <a:pt x="3102791" y="0"/>
                    <a:pt x="3106124" y="1380"/>
                    <a:pt x="3108581" y="3838"/>
                  </a:cubicBezTo>
                  <a:cubicBezTo>
                    <a:pt x="3111038" y="6295"/>
                    <a:pt x="3112419" y="9628"/>
                    <a:pt x="3112419" y="13103"/>
                  </a:cubicBezTo>
                  <a:lnTo>
                    <a:pt x="3112419" y="1158340"/>
                  </a:lnTo>
                  <a:cubicBezTo>
                    <a:pt x="3112419" y="1161815"/>
                    <a:pt x="3111038" y="1165147"/>
                    <a:pt x="3108581" y="1167605"/>
                  </a:cubicBezTo>
                  <a:cubicBezTo>
                    <a:pt x="3106124" y="1170062"/>
                    <a:pt x="3102791" y="1171442"/>
                    <a:pt x="3099316" y="1171442"/>
                  </a:cubicBezTo>
                  <a:lnTo>
                    <a:pt x="13103" y="1171442"/>
                  </a:lnTo>
                  <a:cubicBezTo>
                    <a:pt x="5866" y="1171442"/>
                    <a:pt x="0" y="1165576"/>
                    <a:pt x="0" y="1158340"/>
                  </a:cubicBezTo>
                  <a:lnTo>
                    <a:pt x="0" y="13103"/>
                  </a:lnTo>
                  <a:cubicBezTo>
                    <a:pt x="0" y="9628"/>
                    <a:pt x="1380" y="6295"/>
                    <a:pt x="3838" y="3838"/>
                  </a:cubicBezTo>
                  <a:cubicBezTo>
                    <a:pt x="6295" y="1380"/>
                    <a:pt x="9628" y="0"/>
                    <a:pt x="13103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112419" cy="120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12103312" y="6499714"/>
            <a:ext cx="2425617" cy="691740"/>
            <a:chOff x="0" y="0"/>
            <a:chExt cx="412383" cy="1821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2383" cy="182187"/>
            </a:xfrm>
            <a:custGeom>
              <a:avLst/>
              <a:gdLst/>
              <a:ahLst/>
              <a:cxnLst/>
              <a:rect l="l" t="t" r="r" b="b"/>
              <a:pathLst>
                <a:path w="412383" h="182187">
                  <a:moveTo>
                    <a:pt x="91093" y="0"/>
                  </a:moveTo>
                  <a:lnTo>
                    <a:pt x="321290" y="0"/>
                  </a:lnTo>
                  <a:cubicBezTo>
                    <a:pt x="345449" y="0"/>
                    <a:pt x="368619" y="9597"/>
                    <a:pt x="385702" y="26681"/>
                  </a:cubicBezTo>
                  <a:cubicBezTo>
                    <a:pt x="402786" y="43764"/>
                    <a:pt x="412383" y="66934"/>
                    <a:pt x="412383" y="91093"/>
                  </a:cubicBezTo>
                  <a:lnTo>
                    <a:pt x="412383" y="91093"/>
                  </a:lnTo>
                  <a:cubicBezTo>
                    <a:pt x="412383" y="141403"/>
                    <a:pt x="371599" y="182187"/>
                    <a:pt x="321290" y="182187"/>
                  </a:cubicBezTo>
                  <a:lnTo>
                    <a:pt x="91093" y="182187"/>
                  </a:lnTo>
                  <a:cubicBezTo>
                    <a:pt x="40784" y="182187"/>
                    <a:pt x="0" y="141403"/>
                    <a:pt x="0" y="91093"/>
                  </a:cubicBezTo>
                  <a:lnTo>
                    <a:pt x="0" y="91093"/>
                  </a:lnTo>
                  <a:cubicBezTo>
                    <a:pt x="0" y="40784"/>
                    <a:pt x="40784" y="0"/>
                    <a:pt x="91093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12383" cy="220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3087521" y="5709427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3" name="Freeform 13"/>
          <p:cNvSpPr/>
          <p:nvPr/>
        </p:nvSpPr>
        <p:spPr>
          <a:xfrm>
            <a:off x="13087521" y="6331752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0" name="TextBox 20"/>
          <p:cNvSpPr txBox="1"/>
          <p:nvPr/>
        </p:nvSpPr>
        <p:spPr>
          <a:xfrm>
            <a:off x="12549746" y="8058390"/>
            <a:ext cx="5738254" cy="181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Outliers are retained because lexicon models don’t depend on fixed-length vectors, so text length doesn’t break feature representation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911219" y="5722740"/>
            <a:ext cx="3127967" cy="404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Avg = 24.71 words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864633" y="7507369"/>
            <a:ext cx="5199649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163 outliers (IQR rule)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E5CE31E-C709-D87C-CCEE-24BCF75FC6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163" y="1400688"/>
            <a:ext cx="5497301" cy="4122976"/>
          </a:xfrm>
          <a:prstGeom prst="rect">
            <a:avLst/>
          </a:prstGeom>
        </p:spPr>
      </p:pic>
      <p:sp>
        <p:nvSpPr>
          <p:cNvPr id="15" name="Freeform 15"/>
          <p:cNvSpPr/>
          <p:nvPr/>
        </p:nvSpPr>
        <p:spPr>
          <a:xfrm>
            <a:off x="2785088" y="1012557"/>
            <a:ext cx="717254" cy="722674"/>
          </a:xfrm>
          <a:custGeom>
            <a:avLst/>
            <a:gdLst/>
            <a:ahLst/>
            <a:cxnLst/>
            <a:rect l="l" t="t" r="r" b="b"/>
            <a:pathLst>
              <a:path w="717254" h="722674">
                <a:moveTo>
                  <a:pt x="0" y="0"/>
                </a:moveTo>
                <a:lnTo>
                  <a:pt x="717254" y="0"/>
                </a:lnTo>
                <a:lnTo>
                  <a:pt x="717254" y="722675"/>
                </a:lnTo>
                <a:lnTo>
                  <a:pt x="0" y="7226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E0A6962-F6DB-779E-7604-2750366A22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577" y="1400688"/>
            <a:ext cx="5497301" cy="4122976"/>
          </a:xfrm>
          <a:prstGeom prst="rect">
            <a:avLst/>
          </a:prstGeom>
        </p:spPr>
      </p:pic>
      <p:sp>
        <p:nvSpPr>
          <p:cNvPr id="17" name="Freeform 17"/>
          <p:cNvSpPr/>
          <p:nvPr/>
        </p:nvSpPr>
        <p:spPr>
          <a:xfrm>
            <a:off x="8625106" y="1012557"/>
            <a:ext cx="717254" cy="722674"/>
          </a:xfrm>
          <a:custGeom>
            <a:avLst/>
            <a:gdLst/>
            <a:ahLst/>
            <a:cxnLst/>
            <a:rect l="l" t="t" r="r" b="b"/>
            <a:pathLst>
              <a:path w="717254" h="722674">
                <a:moveTo>
                  <a:pt x="0" y="0"/>
                </a:moveTo>
                <a:lnTo>
                  <a:pt x="717254" y="0"/>
                </a:lnTo>
                <a:lnTo>
                  <a:pt x="717254" y="722675"/>
                </a:lnTo>
                <a:lnTo>
                  <a:pt x="0" y="7226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6ACC338-A941-39B2-A0B9-9E075A7EDF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248" y="6474730"/>
            <a:ext cx="11612857" cy="2763905"/>
          </a:xfrm>
          <a:prstGeom prst="rect">
            <a:avLst/>
          </a:prstGeom>
        </p:spPr>
      </p:pic>
      <p:sp>
        <p:nvSpPr>
          <p:cNvPr id="29" name="TextBox 21">
            <a:extLst>
              <a:ext uri="{FF2B5EF4-FFF2-40B4-BE49-F238E27FC236}">
                <a16:creationId xmlns:a16="http://schemas.microsoft.com/office/drawing/2014/main" id="{78126425-A119-6317-C283-CB734E1CAA33}"/>
              </a:ext>
            </a:extLst>
          </p:cNvPr>
          <p:cNvSpPr txBox="1"/>
          <p:nvPr/>
        </p:nvSpPr>
        <p:spPr>
          <a:xfrm>
            <a:off x="13911220" y="6386107"/>
            <a:ext cx="3127967" cy="404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Median = 14 words</a:t>
            </a:r>
          </a:p>
        </p:txBody>
      </p:sp>
      <p:sp>
        <p:nvSpPr>
          <p:cNvPr id="30" name="TextBox 21">
            <a:extLst>
              <a:ext uri="{FF2B5EF4-FFF2-40B4-BE49-F238E27FC236}">
                <a16:creationId xmlns:a16="http://schemas.microsoft.com/office/drawing/2014/main" id="{738A8857-1014-260F-D23B-20C429297507}"/>
              </a:ext>
            </a:extLst>
          </p:cNvPr>
          <p:cNvSpPr txBox="1"/>
          <p:nvPr/>
        </p:nvSpPr>
        <p:spPr>
          <a:xfrm>
            <a:off x="13911221" y="6937128"/>
            <a:ext cx="3127967" cy="404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Max = 272 words</a:t>
            </a:r>
          </a:p>
        </p:txBody>
      </p:sp>
      <p:sp>
        <p:nvSpPr>
          <p:cNvPr id="31" name="Freeform 13">
            <a:extLst>
              <a:ext uri="{FF2B5EF4-FFF2-40B4-BE49-F238E27FC236}">
                <a16:creationId xmlns:a16="http://schemas.microsoft.com/office/drawing/2014/main" id="{D92C9B77-A523-DA46-8D08-9C1F531214B0}"/>
              </a:ext>
            </a:extLst>
          </p:cNvPr>
          <p:cNvSpPr/>
          <p:nvPr/>
        </p:nvSpPr>
        <p:spPr>
          <a:xfrm>
            <a:off x="13087521" y="6937128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EE64286F-977B-249D-0B6A-66A522C307B8}"/>
              </a:ext>
            </a:extLst>
          </p:cNvPr>
          <p:cNvSpPr/>
          <p:nvPr/>
        </p:nvSpPr>
        <p:spPr>
          <a:xfrm>
            <a:off x="13087521" y="7533701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8BED0E-696B-594C-58E7-3E9CA3056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1625B25-F464-813A-68B5-A546554F8594}"/>
              </a:ext>
            </a:extLst>
          </p:cNvPr>
          <p:cNvSpPr/>
          <p:nvPr/>
        </p:nvSpPr>
        <p:spPr>
          <a:xfrm rot="-10800000">
            <a:off x="-6844491" y="-3015084"/>
            <a:ext cx="9744477" cy="7040385"/>
          </a:xfrm>
          <a:custGeom>
            <a:avLst/>
            <a:gdLst/>
            <a:ahLst/>
            <a:cxnLst/>
            <a:rect l="l" t="t" r="r" b="b"/>
            <a:pathLst>
              <a:path w="9744477" h="7040385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E4E03BC-9AD7-398C-172B-5E27934BD14D}"/>
              </a:ext>
            </a:extLst>
          </p:cNvPr>
          <p:cNvGrpSpPr/>
          <p:nvPr/>
        </p:nvGrpSpPr>
        <p:grpSpPr>
          <a:xfrm>
            <a:off x="137905" y="1495254"/>
            <a:ext cx="9158495" cy="4181554"/>
            <a:chOff x="0" y="0"/>
            <a:chExt cx="3111575" cy="110131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D913CDD-A05D-E7C9-FFBF-4059B698C216}"/>
                </a:ext>
              </a:extLst>
            </p:cNvPr>
            <p:cNvSpPr/>
            <p:nvPr/>
          </p:nvSpPr>
          <p:spPr>
            <a:xfrm>
              <a:off x="0" y="0"/>
              <a:ext cx="3111575" cy="1101315"/>
            </a:xfrm>
            <a:custGeom>
              <a:avLst/>
              <a:gdLst/>
              <a:ahLst/>
              <a:cxnLst/>
              <a:rect l="l" t="t" r="r" b="b"/>
              <a:pathLst>
                <a:path w="3111575" h="1101315">
                  <a:moveTo>
                    <a:pt x="13106" y="0"/>
                  </a:moveTo>
                  <a:lnTo>
                    <a:pt x="3098469" y="0"/>
                  </a:lnTo>
                  <a:cubicBezTo>
                    <a:pt x="3101945" y="0"/>
                    <a:pt x="3105279" y="1381"/>
                    <a:pt x="3107736" y="3839"/>
                  </a:cubicBezTo>
                  <a:cubicBezTo>
                    <a:pt x="3110194" y="6297"/>
                    <a:pt x="3111575" y="9630"/>
                    <a:pt x="3111575" y="13106"/>
                  </a:cubicBezTo>
                  <a:lnTo>
                    <a:pt x="3111575" y="1088209"/>
                  </a:lnTo>
                  <a:cubicBezTo>
                    <a:pt x="3111575" y="1095447"/>
                    <a:pt x="3105707" y="1101315"/>
                    <a:pt x="3098469" y="1101315"/>
                  </a:cubicBezTo>
                  <a:lnTo>
                    <a:pt x="13106" y="1101315"/>
                  </a:lnTo>
                  <a:cubicBezTo>
                    <a:pt x="9630" y="1101315"/>
                    <a:pt x="6297" y="1099934"/>
                    <a:pt x="3839" y="1097476"/>
                  </a:cubicBezTo>
                  <a:cubicBezTo>
                    <a:pt x="1381" y="1095018"/>
                    <a:pt x="0" y="1091685"/>
                    <a:pt x="0" y="1088209"/>
                  </a:cubicBezTo>
                  <a:lnTo>
                    <a:pt x="0" y="13106"/>
                  </a:lnTo>
                  <a:cubicBezTo>
                    <a:pt x="0" y="9630"/>
                    <a:pt x="1381" y="6297"/>
                    <a:pt x="3839" y="3839"/>
                  </a:cubicBezTo>
                  <a:cubicBezTo>
                    <a:pt x="6297" y="1381"/>
                    <a:pt x="9630" y="0"/>
                    <a:pt x="13106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78CEF9C-C7E1-CCF6-B991-452A96956BB8}"/>
                </a:ext>
              </a:extLst>
            </p:cNvPr>
            <p:cNvSpPr txBox="1"/>
            <p:nvPr/>
          </p:nvSpPr>
          <p:spPr>
            <a:xfrm>
              <a:off x="0" y="-38100"/>
              <a:ext cx="3111575" cy="11394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EA78A8C8-DB8F-D676-AD16-3D13B9A417AF}"/>
              </a:ext>
            </a:extLst>
          </p:cNvPr>
          <p:cNvSpPr txBox="1"/>
          <p:nvPr/>
        </p:nvSpPr>
        <p:spPr>
          <a:xfrm>
            <a:off x="2812798" y="293810"/>
            <a:ext cx="12662405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&amp; USER SPARSITY</a:t>
            </a:r>
          </a:p>
        </p:txBody>
      </p:sp>
      <p:sp>
        <p:nvSpPr>
          <p:cNvPr id="28" name="TextBox 23">
            <a:extLst>
              <a:ext uri="{FF2B5EF4-FFF2-40B4-BE49-F238E27FC236}">
                <a16:creationId xmlns:a16="http://schemas.microsoft.com/office/drawing/2014/main" id="{1F44FA97-DFE9-A5F1-5CF3-C2F6359FD5DB}"/>
              </a:ext>
            </a:extLst>
          </p:cNvPr>
          <p:cNvSpPr txBox="1"/>
          <p:nvPr/>
        </p:nvSpPr>
        <p:spPr>
          <a:xfrm>
            <a:off x="4564752" y="5981700"/>
            <a:ext cx="9158495" cy="404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Most reviewers have 0 repeated reviews for the same product.</a:t>
            </a:r>
          </a:p>
        </p:txBody>
      </p:sp>
      <p:sp>
        <p:nvSpPr>
          <p:cNvPr id="30" name="TextBox 23">
            <a:extLst>
              <a:ext uri="{FF2B5EF4-FFF2-40B4-BE49-F238E27FC236}">
                <a16:creationId xmlns:a16="http://schemas.microsoft.com/office/drawing/2014/main" id="{F2B0D103-BE01-CEAE-301B-ECB36A85D5BC}"/>
              </a:ext>
            </a:extLst>
          </p:cNvPr>
          <p:cNvSpPr txBox="1"/>
          <p:nvPr/>
        </p:nvSpPr>
        <p:spPr>
          <a:xfrm>
            <a:off x="4564752" y="7061633"/>
            <a:ext cx="9158495" cy="404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A small group of reviewers has many repeated reviews.</a:t>
            </a:r>
          </a:p>
        </p:txBody>
      </p:sp>
      <p:sp>
        <p:nvSpPr>
          <p:cNvPr id="34" name="TextBox 23">
            <a:extLst>
              <a:ext uri="{FF2B5EF4-FFF2-40B4-BE49-F238E27FC236}">
                <a16:creationId xmlns:a16="http://schemas.microsoft.com/office/drawing/2014/main" id="{CF217DF3-0351-4B31-B42D-2CE57F2FB65D}"/>
              </a:ext>
            </a:extLst>
          </p:cNvPr>
          <p:cNvSpPr txBox="1"/>
          <p:nvPr/>
        </p:nvSpPr>
        <p:spPr>
          <a:xfrm>
            <a:off x="4564752" y="8200877"/>
            <a:ext cx="9158495" cy="404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Duplicate reviewer–product reviews are not evenly distributed.</a:t>
            </a:r>
          </a:p>
        </p:txBody>
      </p:sp>
      <p:sp>
        <p:nvSpPr>
          <p:cNvPr id="35" name="TextBox 23">
            <a:extLst>
              <a:ext uri="{FF2B5EF4-FFF2-40B4-BE49-F238E27FC236}">
                <a16:creationId xmlns:a16="http://schemas.microsoft.com/office/drawing/2014/main" id="{4A3D3C41-DD4F-ED11-78A2-589230D4FD32}"/>
              </a:ext>
            </a:extLst>
          </p:cNvPr>
          <p:cNvSpPr txBox="1"/>
          <p:nvPr/>
        </p:nvSpPr>
        <p:spPr>
          <a:xfrm>
            <a:off x="4564752" y="9280810"/>
            <a:ext cx="9158495" cy="404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Repeated review activity is driven by a small subset of users.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D06DD12-018F-B7CE-3A9E-F9282D9EFE1E}"/>
              </a:ext>
            </a:extLst>
          </p:cNvPr>
          <p:cNvSpPr/>
          <p:nvPr/>
        </p:nvSpPr>
        <p:spPr>
          <a:xfrm>
            <a:off x="9009988" y="1151235"/>
            <a:ext cx="705511" cy="722674"/>
          </a:xfrm>
          <a:custGeom>
            <a:avLst/>
            <a:gdLst/>
            <a:ahLst/>
            <a:cxnLst/>
            <a:rect l="l" t="t" r="r" b="b"/>
            <a:pathLst>
              <a:path w="705511" h="722674">
                <a:moveTo>
                  <a:pt x="0" y="0"/>
                </a:moveTo>
                <a:lnTo>
                  <a:pt x="705510" y="0"/>
                </a:lnTo>
                <a:lnTo>
                  <a:pt x="705510" y="722674"/>
                </a:lnTo>
                <a:lnTo>
                  <a:pt x="0" y="722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1E892B-40A9-EBDC-61DD-7AA8162111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0" y="999592"/>
            <a:ext cx="6394515" cy="4795886"/>
          </a:xfrm>
          <a:prstGeom prst="rect">
            <a:avLst/>
          </a:prstGeom>
        </p:spPr>
      </p:pic>
      <p:sp>
        <p:nvSpPr>
          <p:cNvPr id="12" name="Freeform 12">
            <a:extLst>
              <a:ext uri="{FF2B5EF4-FFF2-40B4-BE49-F238E27FC236}">
                <a16:creationId xmlns:a16="http://schemas.microsoft.com/office/drawing/2014/main" id="{45C6A6F8-1F99-CAF5-35F6-4B4ADAAC75E1}"/>
              </a:ext>
            </a:extLst>
          </p:cNvPr>
          <p:cNvSpPr/>
          <p:nvPr/>
        </p:nvSpPr>
        <p:spPr>
          <a:xfrm>
            <a:off x="17161088" y="595227"/>
            <a:ext cx="717254" cy="722674"/>
          </a:xfrm>
          <a:custGeom>
            <a:avLst/>
            <a:gdLst/>
            <a:ahLst/>
            <a:cxnLst/>
            <a:rect l="l" t="t" r="r" b="b"/>
            <a:pathLst>
              <a:path w="717254" h="722674">
                <a:moveTo>
                  <a:pt x="0" y="0"/>
                </a:moveTo>
                <a:lnTo>
                  <a:pt x="717254" y="0"/>
                </a:lnTo>
                <a:lnTo>
                  <a:pt x="717254" y="722675"/>
                </a:lnTo>
                <a:lnTo>
                  <a:pt x="0" y="7226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EC37A8F-C7B4-366C-9272-F3A846A527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834" y="1714500"/>
            <a:ext cx="8707170" cy="372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148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542318" flipV="1">
            <a:off x="12037037" y="-954371"/>
            <a:ext cx="7674102" cy="8229600"/>
          </a:xfrm>
          <a:custGeom>
            <a:avLst/>
            <a:gdLst/>
            <a:ahLst/>
            <a:cxnLst/>
            <a:rect l="l" t="t" r="r" b="b"/>
            <a:pathLst>
              <a:path w="7674102" h="8229600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3" name="Group 3"/>
          <p:cNvGrpSpPr/>
          <p:nvPr/>
        </p:nvGrpSpPr>
        <p:grpSpPr>
          <a:xfrm>
            <a:off x="6384185" y="6675204"/>
            <a:ext cx="11692343" cy="3052643"/>
            <a:chOff x="0" y="0"/>
            <a:chExt cx="3079465" cy="8039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79465" cy="803988"/>
            </a:xfrm>
            <a:custGeom>
              <a:avLst/>
              <a:gdLst/>
              <a:ahLst/>
              <a:cxnLst/>
              <a:rect l="l" t="t" r="r" b="b"/>
              <a:pathLst>
                <a:path w="3079465" h="803988">
                  <a:moveTo>
                    <a:pt x="13243" y="0"/>
                  </a:moveTo>
                  <a:lnTo>
                    <a:pt x="3066222" y="0"/>
                  </a:lnTo>
                  <a:cubicBezTo>
                    <a:pt x="3073536" y="0"/>
                    <a:pt x="3079465" y="5929"/>
                    <a:pt x="3079465" y="13243"/>
                  </a:cubicBezTo>
                  <a:lnTo>
                    <a:pt x="3079465" y="790746"/>
                  </a:lnTo>
                  <a:cubicBezTo>
                    <a:pt x="3079465" y="798059"/>
                    <a:pt x="3073536" y="803988"/>
                    <a:pt x="3066222" y="803988"/>
                  </a:cubicBezTo>
                  <a:lnTo>
                    <a:pt x="13243" y="803988"/>
                  </a:lnTo>
                  <a:cubicBezTo>
                    <a:pt x="5929" y="803988"/>
                    <a:pt x="0" y="798059"/>
                    <a:pt x="0" y="790746"/>
                  </a:cubicBezTo>
                  <a:lnTo>
                    <a:pt x="0" y="13243"/>
                  </a:lnTo>
                  <a:cubicBezTo>
                    <a:pt x="0" y="5929"/>
                    <a:pt x="5929" y="0"/>
                    <a:pt x="13243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079465" cy="842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25985" y="3328464"/>
            <a:ext cx="5147808" cy="6326497"/>
            <a:chOff x="0" y="0"/>
            <a:chExt cx="1355801" cy="16662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55801" cy="1666238"/>
            </a:xfrm>
            <a:custGeom>
              <a:avLst/>
              <a:gdLst/>
              <a:ahLst/>
              <a:cxnLst/>
              <a:rect l="l" t="t" r="r" b="b"/>
              <a:pathLst>
                <a:path w="1355801" h="1666238">
                  <a:moveTo>
                    <a:pt x="30079" y="0"/>
                  </a:moveTo>
                  <a:lnTo>
                    <a:pt x="1325723" y="0"/>
                  </a:lnTo>
                  <a:cubicBezTo>
                    <a:pt x="1342335" y="0"/>
                    <a:pt x="1355801" y="13467"/>
                    <a:pt x="1355801" y="30079"/>
                  </a:cubicBezTo>
                  <a:lnTo>
                    <a:pt x="1355801" y="1636159"/>
                  </a:lnTo>
                  <a:cubicBezTo>
                    <a:pt x="1355801" y="1644137"/>
                    <a:pt x="1352632" y="1651787"/>
                    <a:pt x="1346992" y="1657428"/>
                  </a:cubicBezTo>
                  <a:cubicBezTo>
                    <a:pt x="1341351" y="1663069"/>
                    <a:pt x="1333700" y="1666238"/>
                    <a:pt x="1325723" y="1666238"/>
                  </a:cubicBezTo>
                  <a:lnTo>
                    <a:pt x="30079" y="1666238"/>
                  </a:lnTo>
                  <a:cubicBezTo>
                    <a:pt x="22101" y="1666238"/>
                    <a:pt x="14451" y="1663069"/>
                    <a:pt x="8810" y="1657428"/>
                  </a:cubicBezTo>
                  <a:cubicBezTo>
                    <a:pt x="3169" y="1651787"/>
                    <a:pt x="0" y="1644137"/>
                    <a:pt x="0" y="1636159"/>
                  </a:cubicBezTo>
                  <a:lnTo>
                    <a:pt x="0" y="30079"/>
                  </a:lnTo>
                  <a:cubicBezTo>
                    <a:pt x="0" y="22101"/>
                    <a:pt x="3169" y="14451"/>
                    <a:pt x="8810" y="8810"/>
                  </a:cubicBezTo>
                  <a:cubicBezTo>
                    <a:pt x="14451" y="3169"/>
                    <a:pt x="22101" y="0"/>
                    <a:pt x="30079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55801" cy="17043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2147874" y="7962921"/>
            <a:ext cx="5747719" cy="3384081"/>
          </a:xfrm>
          <a:custGeom>
            <a:avLst/>
            <a:gdLst/>
            <a:ahLst/>
            <a:cxnLst/>
            <a:rect l="l" t="t" r="r" b="b"/>
            <a:pathLst>
              <a:path w="5747719" h="3384081">
                <a:moveTo>
                  <a:pt x="0" y="0"/>
                </a:moveTo>
                <a:lnTo>
                  <a:pt x="5747719" y="0"/>
                </a:lnTo>
                <a:lnTo>
                  <a:pt x="5747719" y="3384080"/>
                </a:lnTo>
                <a:lnTo>
                  <a:pt x="0" y="338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302" b="-143185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0" name="Freeform 10"/>
          <p:cNvSpPr/>
          <p:nvPr/>
        </p:nvSpPr>
        <p:spPr>
          <a:xfrm>
            <a:off x="14977667" y="1839074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1" y="0"/>
                </a:lnTo>
                <a:lnTo>
                  <a:pt x="896421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1" name="TextBox 11"/>
          <p:cNvSpPr txBox="1"/>
          <p:nvPr/>
        </p:nvSpPr>
        <p:spPr>
          <a:xfrm>
            <a:off x="725985" y="713019"/>
            <a:ext cx="7273915" cy="202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LABELING STRATEGY</a:t>
            </a:r>
          </a:p>
        </p:txBody>
      </p:sp>
      <p:grpSp>
        <p:nvGrpSpPr>
          <p:cNvPr id="12" name="Group 12"/>
          <p:cNvGrpSpPr/>
          <p:nvPr/>
        </p:nvGrpSpPr>
        <p:grpSpPr>
          <a:xfrm rot="5400000">
            <a:off x="5814471" y="1381498"/>
            <a:ext cx="2182403" cy="675993"/>
            <a:chOff x="0" y="0"/>
            <a:chExt cx="574789" cy="17803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4789" cy="178039"/>
            </a:xfrm>
            <a:custGeom>
              <a:avLst/>
              <a:gdLst/>
              <a:ahLst/>
              <a:cxnLst/>
              <a:rect l="l" t="t" r="r" b="b"/>
              <a:pathLst>
                <a:path w="574789" h="178039">
                  <a:moveTo>
                    <a:pt x="89020" y="0"/>
                  </a:moveTo>
                  <a:lnTo>
                    <a:pt x="485770" y="0"/>
                  </a:lnTo>
                  <a:cubicBezTo>
                    <a:pt x="534934" y="0"/>
                    <a:pt x="574789" y="39855"/>
                    <a:pt x="574789" y="89020"/>
                  </a:cubicBezTo>
                  <a:lnTo>
                    <a:pt x="574789" y="89020"/>
                  </a:lnTo>
                  <a:cubicBezTo>
                    <a:pt x="574789" y="112629"/>
                    <a:pt x="565411" y="135272"/>
                    <a:pt x="548716" y="151966"/>
                  </a:cubicBezTo>
                  <a:cubicBezTo>
                    <a:pt x="532022" y="168660"/>
                    <a:pt x="509379" y="178039"/>
                    <a:pt x="485770" y="178039"/>
                  </a:cubicBezTo>
                  <a:lnTo>
                    <a:pt x="89020" y="178039"/>
                  </a:lnTo>
                  <a:cubicBezTo>
                    <a:pt x="39855" y="178039"/>
                    <a:pt x="0" y="138184"/>
                    <a:pt x="0" y="89020"/>
                  </a:cubicBezTo>
                  <a:lnTo>
                    <a:pt x="0" y="89020"/>
                  </a:lnTo>
                  <a:cubicBezTo>
                    <a:pt x="0" y="39855"/>
                    <a:pt x="39855" y="0"/>
                    <a:pt x="89020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74789" cy="2161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6679889" y="776127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6" name="Freeform 16"/>
          <p:cNvSpPr/>
          <p:nvPr/>
        </p:nvSpPr>
        <p:spPr>
          <a:xfrm>
            <a:off x="6679889" y="1457336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7" name="Freeform 17"/>
          <p:cNvSpPr/>
          <p:nvPr/>
        </p:nvSpPr>
        <p:spPr>
          <a:xfrm>
            <a:off x="6679889" y="2245194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8" name="Freeform 18"/>
          <p:cNvSpPr/>
          <p:nvPr/>
        </p:nvSpPr>
        <p:spPr>
          <a:xfrm>
            <a:off x="1028700" y="3401349"/>
            <a:ext cx="4629187" cy="6159665"/>
          </a:xfrm>
          <a:custGeom>
            <a:avLst/>
            <a:gdLst/>
            <a:ahLst/>
            <a:cxnLst/>
            <a:rect l="l" t="t" r="r" b="b"/>
            <a:pathLst>
              <a:path w="4629187" h="6159665">
                <a:moveTo>
                  <a:pt x="0" y="0"/>
                </a:moveTo>
                <a:lnTo>
                  <a:pt x="4629187" y="0"/>
                </a:lnTo>
                <a:lnTo>
                  <a:pt x="4629187" y="6159666"/>
                </a:lnTo>
                <a:lnTo>
                  <a:pt x="0" y="61596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1525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9" name="Freeform 19"/>
          <p:cNvSpPr/>
          <p:nvPr/>
        </p:nvSpPr>
        <p:spPr>
          <a:xfrm>
            <a:off x="6567676" y="6876966"/>
            <a:ext cx="11301259" cy="2684049"/>
          </a:xfrm>
          <a:custGeom>
            <a:avLst/>
            <a:gdLst/>
            <a:ahLst/>
            <a:cxnLst/>
            <a:rect l="l" t="t" r="r" b="b"/>
            <a:pathLst>
              <a:path w="11301259" h="2684049">
                <a:moveTo>
                  <a:pt x="0" y="0"/>
                </a:moveTo>
                <a:lnTo>
                  <a:pt x="11301259" y="0"/>
                </a:lnTo>
                <a:lnTo>
                  <a:pt x="11301259" y="2684049"/>
                </a:lnTo>
                <a:lnTo>
                  <a:pt x="0" y="26840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0" name="TextBox 20"/>
          <p:cNvSpPr txBox="1"/>
          <p:nvPr/>
        </p:nvSpPr>
        <p:spPr>
          <a:xfrm>
            <a:off x="6567676" y="4033020"/>
            <a:ext cx="5441644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This converts ratings into proxy ground-truth sentiment labels to enable supervised evaluation.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75260" y="718977"/>
            <a:ext cx="5199649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4–5 → Positive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75260" y="1471764"/>
            <a:ext cx="5199649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3 → Neutral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75260" y="2231046"/>
            <a:ext cx="5199649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1–2 → Negative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542318" flipV="1">
            <a:off x="11813567" y="533577"/>
            <a:ext cx="7674102" cy="8229600"/>
          </a:xfrm>
          <a:custGeom>
            <a:avLst/>
            <a:gdLst/>
            <a:ahLst/>
            <a:cxnLst/>
            <a:rect l="l" t="t" r="r" b="b"/>
            <a:pathLst>
              <a:path w="7674102" h="8229600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-1658563" y="7258381"/>
            <a:ext cx="5747719" cy="3384081"/>
          </a:xfrm>
          <a:custGeom>
            <a:avLst/>
            <a:gdLst/>
            <a:ahLst/>
            <a:cxnLst/>
            <a:rect l="l" t="t" r="r" b="b"/>
            <a:pathLst>
              <a:path w="5747719" h="3384081">
                <a:moveTo>
                  <a:pt x="0" y="0"/>
                </a:moveTo>
                <a:lnTo>
                  <a:pt x="5747719" y="0"/>
                </a:lnTo>
                <a:lnTo>
                  <a:pt x="5747719" y="3384081"/>
                </a:lnTo>
                <a:lnTo>
                  <a:pt x="0" y="3384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302" b="-143185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14977667" y="1839074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1" y="0"/>
                </a:lnTo>
                <a:lnTo>
                  <a:pt x="896421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715100" y="6174517"/>
            <a:ext cx="9017085" cy="299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6999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COLUMN SELECTION &amp; TEXT COMBINATION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0" y="8263032"/>
            <a:ext cx="8857557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Combining both fields reduces sparse-text misclassification and captures more sentiment-bearing words.</a:t>
            </a:r>
          </a:p>
        </p:txBody>
      </p:sp>
      <p:grpSp>
        <p:nvGrpSpPr>
          <p:cNvPr id="7" name="Group 7"/>
          <p:cNvGrpSpPr/>
          <p:nvPr/>
        </p:nvGrpSpPr>
        <p:grpSpPr>
          <a:xfrm rot="5400000">
            <a:off x="9866862" y="6818811"/>
            <a:ext cx="1530777" cy="671865"/>
            <a:chOff x="0" y="0"/>
            <a:chExt cx="403168" cy="17695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3168" cy="176952"/>
            </a:xfrm>
            <a:custGeom>
              <a:avLst/>
              <a:gdLst/>
              <a:ahLst/>
              <a:cxnLst/>
              <a:rect l="l" t="t" r="r" b="b"/>
              <a:pathLst>
                <a:path w="403168" h="176952">
                  <a:moveTo>
                    <a:pt x="88476" y="0"/>
                  </a:moveTo>
                  <a:lnTo>
                    <a:pt x="314692" y="0"/>
                  </a:lnTo>
                  <a:cubicBezTo>
                    <a:pt x="363556" y="0"/>
                    <a:pt x="403168" y="39612"/>
                    <a:pt x="403168" y="88476"/>
                  </a:cubicBezTo>
                  <a:lnTo>
                    <a:pt x="403168" y="88476"/>
                  </a:lnTo>
                  <a:cubicBezTo>
                    <a:pt x="403168" y="137340"/>
                    <a:pt x="363556" y="176952"/>
                    <a:pt x="314692" y="176952"/>
                  </a:cubicBezTo>
                  <a:lnTo>
                    <a:pt x="88476" y="176952"/>
                  </a:lnTo>
                  <a:cubicBezTo>
                    <a:pt x="39612" y="176952"/>
                    <a:pt x="0" y="137340"/>
                    <a:pt x="0" y="88476"/>
                  </a:cubicBezTo>
                  <a:lnTo>
                    <a:pt x="0" y="88476"/>
                  </a:lnTo>
                  <a:cubicBezTo>
                    <a:pt x="0" y="39612"/>
                    <a:pt x="39612" y="0"/>
                    <a:pt x="88476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3168" cy="215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408530" y="6537189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1" name="Freeform 11"/>
          <p:cNvSpPr/>
          <p:nvPr/>
        </p:nvSpPr>
        <p:spPr>
          <a:xfrm>
            <a:off x="10408530" y="7289976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2" name="TextBox 12"/>
          <p:cNvSpPr txBox="1"/>
          <p:nvPr/>
        </p:nvSpPr>
        <p:spPr>
          <a:xfrm>
            <a:off x="11203902" y="6480039"/>
            <a:ext cx="5199649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summary + review_text → full_text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03902" y="7232826"/>
            <a:ext cx="5199649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Improves lexical coverage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294295" y="1440000"/>
            <a:ext cx="14465741" cy="3440859"/>
            <a:chOff x="0" y="0"/>
            <a:chExt cx="3809907" cy="9062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809907" cy="906235"/>
            </a:xfrm>
            <a:custGeom>
              <a:avLst/>
              <a:gdLst/>
              <a:ahLst/>
              <a:cxnLst/>
              <a:rect l="l" t="t" r="r" b="b"/>
              <a:pathLst>
                <a:path w="3809907" h="906235">
                  <a:moveTo>
                    <a:pt x="10704" y="0"/>
                  </a:moveTo>
                  <a:lnTo>
                    <a:pt x="3799204" y="0"/>
                  </a:lnTo>
                  <a:cubicBezTo>
                    <a:pt x="3802042" y="0"/>
                    <a:pt x="3804765" y="1128"/>
                    <a:pt x="3806772" y="3135"/>
                  </a:cubicBezTo>
                  <a:cubicBezTo>
                    <a:pt x="3808780" y="5142"/>
                    <a:pt x="3809907" y="7865"/>
                    <a:pt x="3809907" y="10704"/>
                  </a:cubicBezTo>
                  <a:lnTo>
                    <a:pt x="3809907" y="895531"/>
                  </a:lnTo>
                  <a:cubicBezTo>
                    <a:pt x="3809907" y="901442"/>
                    <a:pt x="3805115" y="906235"/>
                    <a:pt x="3799204" y="906235"/>
                  </a:cubicBezTo>
                  <a:lnTo>
                    <a:pt x="10704" y="906235"/>
                  </a:lnTo>
                  <a:cubicBezTo>
                    <a:pt x="7865" y="906235"/>
                    <a:pt x="5142" y="905107"/>
                    <a:pt x="3135" y="903100"/>
                  </a:cubicBezTo>
                  <a:cubicBezTo>
                    <a:pt x="1128" y="901092"/>
                    <a:pt x="0" y="898370"/>
                    <a:pt x="0" y="895531"/>
                  </a:cubicBezTo>
                  <a:lnTo>
                    <a:pt x="0" y="10704"/>
                  </a:lnTo>
                  <a:cubicBezTo>
                    <a:pt x="0" y="7865"/>
                    <a:pt x="1128" y="5142"/>
                    <a:pt x="3135" y="3135"/>
                  </a:cubicBezTo>
                  <a:cubicBezTo>
                    <a:pt x="5142" y="1128"/>
                    <a:pt x="7865" y="0"/>
                    <a:pt x="10704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809907" cy="944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2525060" y="1672482"/>
            <a:ext cx="14004211" cy="2975895"/>
          </a:xfrm>
          <a:custGeom>
            <a:avLst/>
            <a:gdLst/>
            <a:ahLst/>
            <a:cxnLst/>
            <a:rect l="l" t="t" r="r" b="b"/>
            <a:pathLst>
              <a:path w="14004211" h="2975895">
                <a:moveTo>
                  <a:pt x="0" y="0"/>
                </a:moveTo>
                <a:lnTo>
                  <a:pt x="14004211" y="0"/>
                </a:lnTo>
                <a:lnTo>
                  <a:pt x="14004211" y="2975895"/>
                </a:lnTo>
                <a:lnTo>
                  <a:pt x="0" y="29758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05916" y="504604"/>
            <a:ext cx="13745171" cy="10034901"/>
          </a:xfrm>
          <a:custGeom>
            <a:avLst/>
            <a:gdLst/>
            <a:ahLst/>
            <a:cxnLst/>
            <a:rect l="l" t="t" r="r" b="b"/>
            <a:pathLst>
              <a:path w="13745171" h="10034901">
                <a:moveTo>
                  <a:pt x="0" y="0"/>
                </a:moveTo>
                <a:lnTo>
                  <a:pt x="13745171" y="0"/>
                </a:lnTo>
                <a:lnTo>
                  <a:pt x="13745171" y="10034902"/>
                </a:lnTo>
                <a:lnTo>
                  <a:pt x="0" y="100349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3" r="-523"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3" name="Group 3"/>
          <p:cNvGrpSpPr/>
          <p:nvPr/>
        </p:nvGrpSpPr>
        <p:grpSpPr>
          <a:xfrm>
            <a:off x="5732044" y="2172985"/>
            <a:ext cx="6823913" cy="839660"/>
            <a:chOff x="0" y="0"/>
            <a:chExt cx="1797245" cy="22114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7245" cy="221145"/>
            </a:xfrm>
            <a:custGeom>
              <a:avLst/>
              <a:gdLst/>
              <a:ahLst/>
              <a:cxnLst/>
              <a:rect l="l" t="t" r="r" b="b"/>
              <a:pathLst>
                <a:path w="1797245" h="221145">
                  <a:moveTo>
                    <a:pt x="68072" y="0"/>
                  </a:moveTo>
                  <a:lnTo>
                    <a:pt x="1729173" y="0"/>
                  </a:lnTo>
                  <a:cubicBezTo>
                    <a:pt x="1766768" y="0"/>
                    <a:pt x="1797245" y="30477"/>
                    <a:pt x="1797245" y="68072"/>
                  </a:cubicBezTo>
                  <a:lnTo>
                    <a:pt x="1797245" y="153073"/>
                  </a:lnTo>
                  <a:cubicBezTo>
                    <a:pt x="1797245" y="190668"/>
                    <a:pt x="1766768" y="221145"/>
                    <a:pt x="1729173" y="221145"/>
                  </a:cubicBezTo>
                  <a:lnTo>
                    <a:pt x="68072" y="221145"/>
                  </a:lnTo>
                  <a:cubicBezTo>
                    <a:pt x="30477" y="221145"/>
                    <a:pt x="0" y="190668"/>
                    <a:pt x="0" y="153073"/>
                  </a:cubicBezTo>
                  <a:lnTo>
                    <a:pt x="0" y="68072"/>
                  </a:lnTo>
                  <a:cubicBezTo>
                    <a:pt x="0" y="30477"/>
                    <a:pt x="30477" y="0"/>
                    <a:pt x="68072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BF9F1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97245" cy="259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851492" y="2362487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7" name="Group 7"/>
          <p:cNvGrpSpPr/>
          <p:nvPr/>
        </p:nvGrpSpPr>
        <p:grpSpPr>
          <a:xfrm>
            <a:off x="5732044" y="4461306"/>
            <a:ext cx="6823913" cy="839660"/>
            <a:chOff x="0" y="0"/>
            <a:chExt cx="1797245" cy="2211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97245" cy="221145"/>
            </a:xfrm>
            <a:custGeom>
              <a:avLst/>
              <a:gdLst/>
              <a:ahLst/>
              <a:cxnLst/>
              <a:rect l="l" t="t" r="r" b="b"/>
              <a:pathLst>
                <a:path w="1797245" h="221145">
                  <a:moveTo>
                    <a:pt x="68072" y="0"/>
                  </a:moveTo>
                  <a:lnTo>
                    <a:pt x="1729173" y="0"/>
                  </a:lnTo>
                  <a:cubicBezTo>
                    <a:pt x="1766768" y="0"/>
                    <a:pt x="1797245" y="30477"/>
                    <a:pt x="1797245" y="68072"/>
                  </a:cubicBezTo>
                  <a:lnTo>
                    <a:pt x="1797245" y="153073"/>
                  </a:lnTo>
                  <a:cubicBezTo>
                    <a:pt x="1797245" y="190668"/>
                    <a:pt x="1766768" y="221145"/>
                    <a:pt x="1729173" y="221145"/>
                  </a:cubicBezTo>
                  <a:lnTo>
                    <a:pt x="68072" y="221145"/>
                  </a:lnTo>
                  <a:cubicBezTo>
                    <a:pt x="30477" y="221145"/>
                    <a:pt x="0" y="190668"/>
                    <a:pt x="0" y="153073"/>
                  </a:cubicBezTo>
                  <a:lnTo>
                    <a:pt x="0" y="68072"/>
                  </a:lnTo>
                  <a:cubicBezTo>
                    <a:pt x="0" y="30477"/>
                    <a:pt x="30477" y="0"/>
                    <a:pt x="68072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BF9F1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797245" cy="259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851492" y="4650808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11" name="Group 11"/>
          <p:cNvGrpSpPr/>
          <p:nvPr/>
        </p:nvGrpSpPr>
        <p:grpSpPr>
          <a:xfrm>
            <a:off x="5732044" y="3316846"/>
            <a:ext cx="6823913" cy="839660"/>
            <a:chOff x="0" y="0"/>
            <a:chExt cx="1797245" cy="22114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97245" cy="221145"/>
            </a:xfrm>
            <a:custGeom>
              <a:avLst/>
              <a:gdLst/>
              <a:ahLst/>
              <a:cxnLst/>
              <a:rect l="l" t="t" r="r" b="b"/>
              <a:pathLst>
                <a:path w="1797245" h="221145">
                  <a:moveTo>
                    <a:pt x="68072" y="0"/>
                  </a:moveTo>
                  <a:lnTo>
                    <a:pt x="1729173" y="0"/>
                  </a:lnTo>
                  <a:cubicBezTo>
                    <a:pt x="1766768" y="0"/>
                    <a:pt x="1797245" y="30477"/>
                    <a:pt x="1797245" y="68072"/>
                  </a:cubicBezTo>
                  <a:lnTo>
                    <a:pt x="1797245" y="153073"/>
                  </a:lnTo>
                  <a:cubicBezTo>
                    <a:pt x="1797245" y="190668"/>
                    <a:pt x="1766768" y="221145"/>
                    <a:pt x="1729173" y="221145"/>
                  </a:cubicBezTo>
                  <a:lnTo>
                    <a:pt x="68072" y="221145"/>
                  </a:lnTo>
                  <a:cubicBezTo>
                    <a:pt x="30477" y="221145"/>
                    <a:pt x="0" y="190668"/>
                    <a:pt x="0" y="153073"/>
                  </a:cubicBezTo>
                  <a:lnTo>
                    <a:pt x="0" y="68072"/>
                  </a:lnTo>
                  <a:cubicBezTo>
                    <a:pt x="0" y="30477"/>
                    <a:pt x="30477" y="0"/>
                    <a:pt x="68072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BF9F1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797245" cy="259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1852754" y="3506348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5" name="Freeform 15"/>
          <p:cNvSpPr/>
          <p:nvPr/>
        </p:nvSpPr>
        <p:spPr>
          <a:xfrm>
            <a:off x="7446371" y="5522055"/>
            <a:ext cx="446341" cy="457200"/>
          </a:xfrm>
          <a:custGeom>
            <a:avLst/>
            <a:gdLst/>
            <a:ahLst/>
            <a:cxnLst/>
            <a:rect l="l" t="t" r="r" b="b"/>
            <a:pathLst>
              <a:path w="446341" h="457200">
                <a:moveTo>
                  <a:pt x="0" y="0"/>
                </a:moveTo>
                <a:lnTo>
                  <a:pt x="446341" y="0"/>
                </a:lnTo>
                <a:lnTo>
                  <a:pt x="446341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6" name="TextBox 16"/>
          <p:cNvSpPr txBox="1"/>
          <p:nvPr/>
        </p:nvSpPr>
        <p:spPr>
          <a:xfrm>
            <a:off x="6207908" y="2348340"/>
            <a:ext cx="5643585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REMOVE INVALID RATINGS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01207" y="732618"/>
            <a:ext cx="11685587" cy="75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CLEANING &amp; QUALITY CHECKS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07908" y="4636661"/>
            <a:ext cx="6102046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NO MAJOR STRUCTURAL CLEANING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07908" y="3449198"/>
            <a:ext cx="3854146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COUNT EMPTY TEXTS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41731" y="5929616"/>
            <a:ext cx="6575939" cy="218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LEXICON MODELS REQUIRE ACTUAL TEXT CONTENT, SO WE REMOVE INVALID RATINGS AND ENSURE TEXT FIELDS ARE USABLE WITHOUT DOING HEAVY IMPUTATION.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911129" y="8728075"/>
            <a:ext cx="14465741" cy="841395"/>
            <a:chOff x="0" y="0"/>
            <a:chExt cx="3809907" cy="22160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809907" cy="221602"/>
            </a:xfrm>
            <a:custGeom>
              <a:avLst/>
              <a:gdLst/>
              <a:ahLst/>
              <a:cxnLst/>
              <a:rect l="l" t="t" r="r" b="b"/>
              <a:pathLst>
                <a:path w="3809907" h="221602">
                  <a:moveTo>
                    <a:pt x="10704" y="0"/>
                  </a:moveTo>
                  <a:lnTo>
                    <a:pt x="3799204" y="0"/>
                  </a:lnTo>
                  <a:cubicBezTo>
                    <a:pt x="3802042" y="0"/>
                    <a:pt x="3804765" y="1128"/>
                    <a:pt x="3806772" y="3135"/>
                  </a:cubicBezTo>
                  <a:cubicBezTo>
                    <a:pt x="3808780" y="5142"/>
                    <a:pt x="3809907" y="7865"/>
                    <a:pt x="3809907" y="10704"/>
                  </a:cubicBezTo>
                  <a:lnTo>
                    <a:pt x="3809907" y="210898"/>
                  </a:lnTo>
                  <a:cubicBezTo>
                    <a:pt x="3809907" y="216810"/>
                    <a:pt x="3805115" y="221602"/>
                    <a:pt x="3799204" y="221602"/>
                  </a:cubicBezTo>
                  <a:lnTo>
                    <a:pt x="10704" y="221602"/>
                  </a:lnTo>
                  <a:cubicBezTo>
                    <a:pt x="7865" y="221602"/>
                    <a:pt x="5142" y="220474"/>
                    <a:pt x="3135" y="218467"/>
                  </a:cubicBezTo>
                  <a:cubicBezTo>
                    <a:pt x="1128" y="216459"/>
                    <a:pt x="0" y="213737"/>
                    <a:pt x="0" y="210898"/>
                  </a:cubicBezTo>
                  <a:lnTo>
                    <a:pt x="0" y="10704"/>
                  </a:lnTo>
                  <a:cubicBezTo>
                    <a:pt x="0" y="7865"/>
                    <a:pt x="1128" y="5142"/>
                    <a:pt x="3135" y="3135"/>
                  </a:cubicBezTo>
                  <a:cubicBezTo>
                    <a:pt x="5142" y="1128"/>
                    <a:pt x="7865" y="0"/>
                    <a:pt x="10704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3809907" cy="259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2748378" y="8812452"/>
            <a:ext cx="12514225" cy="672640"/>
          </a:xfrm>
          <a:custGeom>
            <a:avLst/>
            <a:gdLst/>
            <a:ahLst/>
            <a:cxnLst/>
            <a:rect l="l" t="t" r="r" b="b"/>
            <a:pathLst>
              <a:path w="12514225" h="672640">
                <a:moveTo>
                  <a:pt x="0" y="0"/>
                </a:moveTo>
                <a:lnTo>
                  <a:pt x="12514224" y="0"/>
                </a:lnTo>
                <a:lnTo>
                  <a:pt x="12514224" y="672640"/>
                </a:lnTo>
                <a:lnTo>
                  <a:pt x="0" y="672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60706" y="1250971"/>
            <a:ext cx="8931274" cy="804105"/>
            <a:chOff x="0" y="0"/>
            <a:chExt cx="2352270" cy="2117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2270" cy="211781"/>
            </a:xfrm>
            <a:custGeom>
              <a:avLst/>
              <a:gdLst/>
              <a:ahLst/>
              <a:cxnLst/>
              <a:rect l="l" t="t" r="r" b="b"/>
              <a:pathLst>
                <a:path w="2352270" h="211781">
                  <a:moveTo>
                    <a:pt x="52010" y="0"/>
                  </a:moveTo>
                  <a:lnTo>
                    <a:pt x="2300260" y="0"/>
                  </a:lnTo>
                  <a:cubicBezTo>
                    <a:pt x="2328984" y="0"/>
                    <a:pt x="2352270" y="23286"/>
                    <a:pt x="2352270" y="52010"/>
                  </a:cubicBezTo>
                  <a:lnTo>
                    <a:pt x="2352270" y="159771"/>
                  </a:lnTo>
                  <a:cubicBezTo>
                    <a:pt x="2352270" y="173565"/>
                    <a:pt x="2346790" y="186794"/>
                    <a:pt x="2337036" y="196547"/>
                  </a:cubicBezTo>
                  <a:cubicBezTo>
                    <a:pt x="2327283" y="206301"/>
                    <a:pt x="2314054" y="211781"/>
                    <a:pt x="2300260" y="211781"/>
                  </a:cubicBezTo>
                  <a:lnTo>
                    <a:pt x="52010" y="211781"/>
                  </a:lnTo>
                  <a:cubicBezTo>
                    <a:pt x="23286" y="211781"/>
                    <a:pt x="0" y="188495"/>
                    <a:pt x="0" y="159771"/>
                  </a:cubicBezTo>
                  <a:lnTo>
                    <a:pt x="0" y="52010"/>
                  </a:lnTo>
                  <a:cubicBezTo>
                    <a:pt x="0" y="38216"/>
                    <a:pt x="5480" y="24987"/>
                    <a:pt x="15233" y="15233"/>
                  </a:cubicBezTo>
                  <a:cubicBezTo>
                    <a:pt x="24987" y="5480"/>
                    <a:pt x="38216" y="0"/>
                    <a:pt x="52010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BF9F1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52270" cy="249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687516" y="1440473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6" name="Group 6"/>
          <p:cNvGrpSpPr/>
          <p:nvPr/>
        </p:nvGrpSpPr>
        <p:grpSpPr>
          <a:xfrm>
            <a:off x="1821644" y="2302725"/>
            <a:ext cx="14209398" cy="799610"/>
            <a:chOff x="0" y="0"/>
            <a:chExt cx="3742393" cy="2105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42393" cy="210597"/>
            </a:xfrm>
            <a:custGeom>
              <a:avLst/>
              <a:gdLst/>
              <a:ahLst/>
              <a:cxnLst/>
              <a:rect l="l" t="t" r="r" b="b"/>
              <a:pathLst>
                <a:path w="3742393" h="210597">
                  <a:moveTo>
                    <a:pt x="32691" y="0"/>
                  </a:moveTo>
                  <a:lnTo>
                    <a:pt x="3709702" y="0"/>
                  </a:lnTo>
                  <a:cubicBezTo>
                    <a:pt x="3727757" y="0"/>
                    <a:pt x="3742393" y="14636"/>
                    <a:pt x="3742393" y="32691"/>
                  </a:cubicBezTo>
                  <a:lnTo>
                    <a:pt x="3742393" y="177906"/>
                  </a:lnTo>
                  <a:cubicBezTo>
                    <a:pt x="3742393" y="186576"/>
                    <a:pt x="3738949" y="194891"/>
                    <a:pt x="3732818" y="201022"/>
                  </a:cubicBezTo>
                  <a:cubicBezTo>
                    <a:pt x="3726687" y="207153"/>
                    <a:pt x="3718372" y="210597"/>
                    <a:pt x="3709702" y="210597"/>
                  </a:cubicBezTo>
                  <a:lnTo>
                    <a:pt x="32691" y="210597"/>
                  </a:lnTo>
                  <a:cubicBezTo>
                    <a:pt x="24021" y="210597"/>
                    <a:pt x="15706" y="207153"/>
                    <a:pt x="9575" y="201022"/>
                  </a:cubicBezTo>
                  <a:cubicBezTo>
                    <a:pt x="3444" y="194891"/>
                    <a:pt x="0" y="186576"/>
                    <a:pt x="0" y="177906"/>
                  </a:cubicBezTo>
                  <a:lnTo>
                    <a:pt x="0" y="32691"/>
                  </a:lnTo>
                  <a:cubicBezTo>
                    <a:pt x="0" y="24021"/>
                    <a:pt x="3444" y="15706"/>
                    <a:pt x="9575" y="9575"/>
                  </a:cubicBezTo>
                  <a:cubicBezTo>
                    <a:pt x="15706" y="3444"/>
                    <a:pt x="24021" y="0"/>
                    <a:pt x="32691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BF9F1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42393" cy="2486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327839" y="2452178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10" name="Group 10"/>
          <p:cNvGrpSpPr/>
          <p:nvPr/>
        </p:nvGrpSpPr>
        <p:grpSpPr>
          <a:xfrm>
            <a:off x="3301207" y="3349985"/>
            <a:ext cx="12255232" cy="6630116"/>
            <a:chOff x="0" y="0"/>
            <a:chExt cx="3227716" cy="17462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227716" cy="1746203"/>
            </a:xfrm>
            <a:custGeom>
              <a:avLst/>
              <a:gdLst/>
              <a:ahLst/>
              <a:cxnLst/>
              <a:rect l="l" t="t" r="r" b="b"/>
              <a:pathLst>
                <a:path w="3227716" h="1746203">
                  <a:moveTo>
                    <a:pt x="12634" y="0"/>
                  </a:moveTo>
                  <a:lnTo>
                    <a:pt x="3215081" y="0"/>
                  </a:lnTo>
                  <a:cubicBezTo>
                    <a:pt x="3218432" y="0"/>
                    <a:pt x="3221646" y="1331"/>
                    <a:pt x="3224015" y="3701"/>
                  </a:cubicBezTo>
                  <a:cubicBezTo>
                    <a:pt x="3226384" y="6070"/>
                    <a:pt x="3227716" y="9284"/>
                    <a:pt x="3227716" y="12634"/>
                  </a:cubicBezTo>
                  <a:lnTo>
                    <a:pt x="3227716" y="1733569"/>
                  </a:lnTo>
                  <a:cubicBezTo>
                    <a:pt x="3227716" y="1736920"/>
                    <a:pt x="3226384" y="1740134"/>
                    <a:pt x="3224015" y="1742503"/>
                  </a:cubicBezTo>
                  <a:cubicBezTo>
                    <a:pt x="3221646" y="1744872"/>
                    <a:pt x="3218432" y="1746203"/>
                    <a:pt x="3215081" y="1746203"/>
                  </a:cubicBezTo>
                  <a:lnTo>
                    <a:pt x="12634" y="1746203"/>
                  </a:lnTo>
                  <a:cubicBezTo>
                    <a:pt x="9284" y="1746203"/>
                    <a:pt x="6070" y="1744872"/>
                    <a:pt x="3701" y="1742503"/>
                  </a:cubicBezTo>
                  <a:cubicBezTo>
                    <a:pt x="1331" y="1740134"/>
                    <a:pt x="0" y="1736920"/>
                    <a:pt x="0" y="1733569"/>
                  </a:cubicBezTo>
                  <a:lnTo>
                    <a:pt x="0" y="12634"/>
                  </a:lnTo>
                  <a:cubicBezTo>
                    <a:pt x="0" y="9284"/>
                    <a:pt x="1331" y="6070"/>
                    <a:pt x="3701" y="3701"/>
                  </a:cubicBezTo>
                  <a:cubicBezTo>
                    <a:pt x="6070" y="1331"/>
                    <a:pt x="9284" y="0"/>
                    <a:pt x="12634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227716" cy="1784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3711028" y="3588110"/>
            <a:ext cx="11301259" cy="1956740"/>
          </a:xfrm>
          <a:custGeom>
            <a:avLst/>
            <a:gdLst/>
            <a:ahLst/>
            <a:cxnLst/>
            <a:rect l="l" t="t" r="r" b="b"/>
            <a:pathLst>
              <a:path w="11301259" h="1956740">
                <a:moveTo>
                  <a:pt x="0" y="0"/>
                </a:moveTo>
                <a:lnTo>
                  <a:pt x="11301259" y="0"/>
                </a:lnTo>
                <a:lnTo>
                  <a:pt x="11301259" y="1956740"/>
                </a:lnTo>
                <a:lnTo>
                  <a:pt x="0" y="19567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56290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4" name="Freeform 14"/>
          <p:cNvSpPr/>
          <p:nvPr/>
        </p:nvSpPr>
        <p:spPr>
          <a:xfrm>
            <a:off x="3711028" y="5792500"/>
            <a:ext cx="11301259" cy="2201395"/>
          </a:xfrm>
          <a:custGeom>
            <a:avLst/>
            <a:gdLst/>
            <a:ahLst/>
            <a:cxnLst/>
            <a:rect l="l" t="t" r="r" b="b"/>
            <a:pathLst>
              <a:path w="11301259" h="2201395">
                <a:moveTo>
                  <a:pt x="0" y="0"/>
                </a:moveTo>
                <a:lnTo>
                  <a:pt x="11301259" y="0"/>
                </a:lnTo>
                <a:lnTo>
                  <a:pt x="11301259" y="2201395"/>
                </a:lnTo>
                <a:lnTo>
                  <a:pt x="0" y="2201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7807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5" name="Freeform 15"/>
          <p:cNvSpPr/>
          <p:nvPr/>
        </p:nvSpPr>
        <p:spPr>
          <a:xfrm>
            <a:off x="3711028" y="8241545"/>
            <a:ext cx="11301259" cy="1511543"/>
          </a:xfrm>
          <a:custGeom>
            <a:avLst/>
            <a:gdLst/>
            <a:ahLst/>
            <a:cxnLst/>
            <a:rect l="l" t="t" r="r" b="b"/>
            <a:pathLst>
              <a:path w="11301259" h="1511543">
                <a:moveTo>
                  <a:pt x="0" y="0"/>
                </a:moveTo>
                <a:lnTo>
                  <a:pt x="11301259" y="0"/>
                </a:lnTo>
                <a:lnTo>
                  <a:pt x="11301259" y="1511543"/>
                </a:lnTo>
                <a:lnTo>
                  <a:pt x="0" y="15115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6" name="TextBox 16"/>
          <p:cNvSpPr txBox="1"/>
          <p:nvPr/>
        </p:nvSpPr>
        <p:spPr>
          <a:xfrm>
            <a:off x="4789114" y="1383323"/>
            <a:ext cx="9038180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VADER: REMOVE URLS + NORMALIZE WHITESPACE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01207" y="243307"/>
            <a:ext cx="11685587" cy="75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MODEL-SPECIFIC NORMALIZATION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56958" y="2481033"/>
            <a:ext cx="14209398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TEXTBLOB: LOWERCASE + REMOVE URLS + REMOVE NON-ALPHABETIC CHARACTERS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71414" y="1920068"/>
            <a:ext cx="13745171" cy="10034901"/>
          </a:xfrm>
          <a:custGeom>
            <a:avLst/>
            <a:gdLst/>
            <a:ahLst/>
            <a:cxnLst/>
            <a:rect l="l" t="t" r="r" b="b"/>
            <a:pathLst>
              <a:path w="13745171" h="10034901">
                <a:moveTo>
                  <a:pt x="0" y="0"/>
                </a:moveTo>
                <a:lnTo>
                  <a:pt x="13745172" y="0"/>
                </a:lnTo>
                <a:lnTo>
                  <a:pt x="13745172" y="10034901"/>
                </a:lnTo>
                <a:lnTo>
                  <a:pt x="0" y="100349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3" r="-523"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3" name="Group 3"/>
          <p:cNvGrpSpPr/>
          <p:nvPr/>
        </p:nvGrpSpPr>
        <p:grpSpPr>
          <a:xfrm>
            <a:off x="5732044" y="1998000"/>
            <a:ext cx="6823913" cy="839660"/>
            <a:chOff x="0" y="0"/>
            <a:chExt cx="1797245" cy="22114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7245" cy="221145"/>
            </a:xfrm>
            <a:custGeom>
              <a:avLst/>
              <a:gdLst/>
              <a:ahLst/>
              <a:cxnLst/>
              <a:rect l="l" t="t" r="r" b="b"/>
              <a:pathLst>
                <a:path w="1797245" h="221145">
                  <a:moveTo>
                    <a:pt x="68072" y="0"/>
                  </a:moveTo>
                  <a:lnTo>
                    <a:pt x="1729173" y="0"/>
                  </a:lnTo>
                  <a:cubicBezTo>
                    <a:pt x="1766768" y="0"/>
                    <a:pt x="1797245" y="30477"/>
                    <a:pt x="1797245" y="68072"/>
                  </a:cubicBezTo>
                  <a:lnTo>
                    <a:pt x="1797245" y="153073"/>
                  </a:lnTo>
                  <a:cubicBezTo>
                    <a:pt x="1797245" y="190668"/>
                    <a:pt x="1766768" y="221145"/>
                    <a:pt x="1729173" y="221145"/>
                  </a:cubicBezTo>
                  <a:lnTo>
                    <a:pt x="68072" y="221145"/>
                  </a:lnTo>
                  <a:cubicBezTo>
                    <a:pt x="30477" y="221145"/>
                    <a:pt x="0" y="190668"/>
                    <a:pt x="0" y="153073"/>
                  </a:cubicBezTo>
                  <a:lnTo>
                    <a:pt x="0" y="68072"/>
                  </a:lnTo>
                  <a:cubicBezTo>
                    <a:pt x="0" y="30477"/>
                    <a:pt x="30477" y="0"/>
                    <a:pt x="68072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BF9F1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97245" cy="259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732044" y="3031444"/>
            <a:ext cx="6823913" cy="2112056"/>
            <a:chOff x="0" y="0"/>
            <a:chExt cx="1797245" cy="55626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97245" cy="556262"/>
            </a:xfrm>
            <a:custGeom>
              <a:avLst/>
              <a:gdLst/>
              <a:ahLst/>
              <a:cxnLst/>
              <a:rect l="l" t="t" r="r" b="b"/>
              <a:pathLst>
                <a:path w="1797245" h="556262">
                  <a:moveTo>
                    <a:pt x="22691" y="0"/>
                  </a:moveTo>
                  <a:lnTo>
                    <a:pt x="1774554" y="0"/>
                  </a:lnTo>
                  <a:cubicBezTo>
                    <a:pt x="1787086" y="0"/>
                    <a:pt x="1797245" y="10159"/>
                    <a:pt x="1797245" y="22691"/>
                  </a:cubicBezTo>
                  <a:lnTo>
                    <a:pt x="1797245" y="533571"/>
                  </a:lnTo>
                  <a:cubicBezTo>
                    <a:pt x="1797245" y="546103"/>
                    <a:pt x="1787086" y="556262"/>
                    <a:pt x="1774554" y="556262"/>
                  </a:cubicBezTo>
                  <a:lnTo>
                    <a:pt x="22691" y="556262"/>
                  </a:lnTo>
                  <a:cubicBezTo>
                    <a:pt x="10159" y="556262"/>
                    <a:pt x="0" y="546103"/>
                    <a:pt x="0" y="533571"/>
                  </a:cubicBezTo>
                  <a:lnTo>
                    <a:pt x="0" y="22691"/>
                  </a:lnTo>
                  <a:cubicBezTo>
                    <a:pt x="0" y="10159"/>
                    <a:pt x="10159" y="0"/>
                    <a:pt x="22691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797245" cy="594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851492" y="2187502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10" name="Group 10"/>
          <p:cNvGrpSpPr/>
          <p:nvPr/>
        </p:nvGrpSpPr>
        <p:grpSpPr>
          <a:xfrm>
            <a:off x="1830997" y="5524500"/>
            <a:ext cx="6823913" cy="839660"/>
            <a:chOff x="0" y="0"/>
            <a:chExt cx="1797245" cy="22114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97245" cy="221145"/>
            </a:xfrm>
            <a:custGeom>
              <a:avLst/>
              <a:gdLst/>
              <a:ahLst/>
              <a:cxnLst/>
              <a:rect l="l" t="t" r="r" b="b"/>
              <a:pathLst>
                <a:path w="1797245" h="221145">
                  <a:moveTo>
                    <a:pt x="68072" y="0"/>
                  </a:moveTo>
                  <a:lnTo>
                    <a:pt x="1729173" y="0"/>
                  </a:lnTo>
                  <a:cubicBezTo>
                    <a:pt x="1766768" y="0"/>
                    <a:pt x="1797245" y="30477"/>
                    <a:pt x="1797245" y="68072"/>
                  </a:cubicBezTo>
                  <a:lnTo>
                    <a:pt x="1797245" y="153073"/>
                  </a:lnTo>
                  <a:cubicBezTo>
                    <a:pt x="1797245" y="190668"/>
                    <a:pt x="1766768" y="221145"/>
                    <a:pt x="1729173" y="221145"/>
                  </a:cubicBezTo>
                  <a:lnTo>
                    <a:pt x="68072" y="221145"/>
                  </a:lnTo>
                  <a:cubicBezTo>
                    <a:pt x="30477" y="221145"/>
                    <a:pt x="0" y="190668"/>
                    <a:pt x="0" y="153073"/>
                  </a:cubicBezTo>
                  <a:lnTo>
                    <a:pt x="0" y="68072"/>
                  </a:lnTo>
                  <a:cubicBezTo>
                    <a:pt x="0" y="30477"/>
                    <a:pt x="30477" y="0"/>
                    <a:pt x="68072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BF9F1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797245" cy="259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830997" y="6557944"/>
            <a:ext cx="6823913" cy="2112056"/>
            <a:chOff x="0" y="0"/>
            <a:chExt cx="1797245" cy="55626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97245" cy="556262"/>
            </a:xfrm>
            <a:custGeom>
              <a:avLst/>
              <a:gdLst/>
              <a:ahLst/>
              <a:cxnLst/>
              <a:rect l="l" t="t" r="r" b="b"/>
              <a:pathLst>
                <a:path w="1797245" h="556262">
                  <a:moveTo>
                    <a:pt x="22691" y="0"/>
                  </a:moveTo>
                  <a:lnTo>
                    <a:pt x="1774554" y="0"/>
                  </a:lnTo>
                  <a:cubicBezTo>
                    <a:pt x="1787086" y="0"/>
                    <a:pt x="1797245" y="10159"/>
                    <a:pt x="1797245" y="22691"/>
                  </a:cubicBezTo>
                  <a:lnTo>
                    <a:pt x="1797245" y="533571"/>
                  </a:lnTo>
                  <a:cubicBezTo>
                    <a:pt x="1797245" y="546103"/>
                    <a:pt x="1787086" y="556262"/>
                    <a:pt x="1774554" y="556262"/>
                  </a:cubicBezTo>
                  <a:lnTo>
                    <a:pt x="22691" y="556262"/>
                  </a:lnTo>
                  <a:cubicBezTo>
                    <a:pt x="10159" y="556262"/>
                    <a:pt x="0" y="546103"/>
                    <a:pt x="0" y="533571"/>
                  </a:cubicBezTo>
                  <a:lnTo>
                    <a:pt x="0" y="22691"/>
                  </a:lnTo>
                  <a:cubicBezTo>
                    <a:pt x="0" y="10159"/>
                    <a:pt x="10159" y="0"/>
                    <a:pt x="22691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797245" cy="594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7950446" y="5714002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17" name="Group 17"/>
          <p:cNvGrpSpPr/>
          <p:nvPr/>
        </p:nvGrpSpPr>
        <p:grpSpPr>
          <a:xfrm>
            <a:off x="9633090" y="5524500"/>
            <a:ext cx="6823913" cy="839660"/>
            <a:chOff x="0" y="0"/>
            <a:chExt cx="1797245" cy="22114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97245" cy="221145"/>
            </a:xfrm>
            <a:custGeom>
              <a:avLst/>
              <a:gdLst/>
              <a:ahLst/>
              <a:cxnLst/>
              <a:rect l="l" t="t" r="r" b="b"/>
              <a:pathLst>
                <a:path w="1797245" h="221145">
                  <a:moveTo>
                    <a:pt x="68072" y="0"/>
                  </a:moveTo>
                  <a:lnTo>
                    <a:pt x="1729173" y="0"/>
                  </a:lnTo>
                  <a:cubicBezTo>
                    <a:pt x="1766768" y="0"/>
                    <a:pt x="1797245" y="30477"/>
                    <a:pt x="1797245" y="68072"/>
                  </a:cubicBezTo>
                  <a:lnTo>
                    <a:pt x="1797245" y="153073"/>
                  </a:lnTo>
                  <a:cubicBezTo>
                    <a:pt x="1797245" y="190668"/>
                    <a:pt x="1766768" y="221145"/>
                    <a:pt x="1729173" y="221145"/>
                  </a:cubicBezTo>
                  <a:lnTo>
                    <a:pt x="68072" y="221145"/>
                  </a:lnTo>
                  <a:cubicBezTo>
                    <a:pt x="30477" y="221145"/>
                    <a:pt x="0" y="190668"/>
                    <a:pt x="0" y="153073"/>
                  </a:cubicBezTo>
                  <a:lnTo>
                    <a:pt x="0" y="68072"/>
                  </a:lnTo>
                  <a:cubicBezTo>
                    <a:pt x="0" y="30477"/>
                    <a:pt x="30477" y="0"/>
                    <a:pt x="68072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BF9F1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797245" cy="259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633090" y="6557944"/>
            <a:ext cx="6823913" cy="2112056"/>
            <a:chOff x="0" y="0"/>
            <a:chExt cx="1797245" cy="55626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97245" cy="556262"/>
            </a:xfrm>
            <a:custGeom>
              <a:avLst/>
              <a:gdLst/>
              <a:ahLst/>
              <a:cxnLst/>
              <a:rect l="l" t="t" r="r" b="b"/>
              <a:pathLst>
                <a:path w="1797245" h="556262">
                  <a:moveTo>
                    <a:pt x="22691" y="0"/>
                  </a:moveTo>
                  <a:lnTo>
                    <a:pt x="1774554" y="0"/>
                  </a:lnTo>
                  <a:cubicBezTo>
                    <a:pt x="1787086" y="0"/>
                    <a:pt x="1797245" y="10159"/>
                    <a:pt x="1797245" y="22691"/>
                  </a:cubicBezTo>
                  <a:lnTo>
                    <a:pt x="1797245" y="533571"/>
                  </a:lnTo>
                  <a:cubicBezTo>
                    <a:pt x="1797245" y="546103"/>
                    <a:pt x="1787086" y="556262"/>
                    <a:pt x="1774554" y="556262"/>
                  </a:cubicBezTo>
                  <a:lnTo>
                    <a:pt x="22691" y="556262"/>
                  </a:lnTo>
                  <a:cubicBezTo>
                    <a:pt x="10159" y="556262"/>
                    <a:pt x="0" y="546103"/>
                    <a:pt x="0" y="533571"/>
                  </a:cubicBezTo>
                  <a:lnTo>
                    <a:pt x="0" y="22691"/>
                  </a:lnTo>
                  <a:cubicBezTo>
                    <a:pt x="0" y="10159"/>
                    <a:pt x="10159" y="0"/>
                    <a:pt x="22691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797245" cy="594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5753800" y="5714002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4" name="TextBox 24"/>
          <p:cNvSpPr txBox="1"/>
          <p:nvPr/>
        </p:nvSpPr>
        <p:spPr>
          <a:xfrm>
            <a:off x="5979308" y="3422649"/>
            <a:ext cx="5872185" cy="1216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Analyzed: VADER, TextBlob, SentiWordNet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301207" y="732618"/>
            <a:ext cx="11685587" cy="75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LEXICON STUDY &amp; SELECTION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306861" y="7264404"/>
            <a:ext cx="5872185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Selected VADER &amp; TextBlob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108954" y="6989450"/>
            <a:ext cx="5872185" cy="1216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SentiWordNet excluded due to POS + WSD complexity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01207" y="3349985"/>
            <a:ext cx="8310162" cy="6630116"/>
            <a:chOff x="0" y="0"/>
            <a:chExt cx="2188685" cy="17462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88685" cy="1746203"/>
            </a:xfrm>
            <a:custGeom>
              <a:avLst/>
              <a:gdLst/>
              <a:ahLst/>
              <a:cxnLst/>
              <a:rect l="l" t="t" r="r" b="b"/>
              <a:pathLst>
                <a:path w="2188685" h="1746203">
                  <a:moveTo>
                    <a:pt x="18632" y="0"/>
                  </a:moveTo>
                  <a:lnTo>
                    <a:pt x="2170052" y="0"/>
                  </a:lnTo>
                  <a:cubicBezTo>
                    <a:pt x="2174994" y="0"/>
                    <a:pt x="2179733" y="1963"/>
                    <a:pt x="2183227" y="5457"/>
                  </a:cubicBezTo>
                  <a:cubicBezTo>
                    <a:pt x="2186722" y="8952"/>
                    <a:pt x="2188685" y="13691"/>
                    <a:pt x="2188685" y="18632"/>
                  </a:cubicBezTo>
                  <a:lnTo>
                    <a:pt x="2188685" y="1727571"/>
                  </a:lnTo>
                  <a:cubicBezTo>
                    <a:pt x="2188685" y="1737862"/>
                    <a:pt x="2180343" y="1746203"/>
                    <a:pt x="2170052" y="1746203"/>
                  </a:cubicBezTo>
                  <a:lnTo>
                    <a:pt x="18632" y="1746203"/>
                  </a:lnTo>
                  <a:cubicBezTo>
                    <a:pt x="13691" y="1746203"/>
                    <a:pt x="8952" y="1744240"/>
                    <a:pt x="5457" y="1740746"/>
                  </a:cubicBezTo>
                  <a:cubicBezTo>
                    <a:pt x="1963" y="1737252"/>
                    <a:pt x="0" y="1732513"/>
                    <a:pt x="0" y="1727571"/>
                  </a:cubicBezTo>
                  <a:lnTo>
                    <a:pt x="0" y="18632"/>
                  </a:lnTo>
                  <a:cubicBezTo>
                    <a:pt x="0" y="13691"/>
                    <a:pt x="1963" y="8952"/>
                    <a:pt x="5457" y="5457"/>
                  </a:cubicBezTo>
                  <a:cubicBezTo>
                    <a:pt x="8952" y="1963"/>
                    <a:pt x="13691" y="0"/>
                    <a:pt x="18632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88685" cy="1784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542318" flipV="1">
            <a:off x="12296210" y="2938559"/>
            <a:ext cx="7674102" cy="8229600"/>
          </a:xfrm>
          <a:custGeom>
            <a:avLst/>
            <a:gdLst/>
            <a:ahLst/>
            <a:cxnLst/>
            <a:rect l="l" t="t" r="r" b="b"/>
            <a:pathLst>
              <a:path w="7674102" h="8229600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>
            <a:off x="-2147874" y="7962921"/>
            <a:ext cx="5747719" cy="3384081"/>
          </a:xfrm>
          <a:custGeom>
            <a:avLst/>
            <a:gdLst/>
            <a:ahLst/>
            <a:cxnLst/>
            <a:rect l="l" t="t" r="r" b="b"/>
            <a:pathLst>
              <a:path w="5747719" h="3384081">
                <a:moveTo>
                  <a:pt x="0" y="0"/>
                </a:moveTo>
                <a:lnTo>
                  <a:pt x="5747719" y="0"/>
                </a:lnTo>
                <a:lnTo>
                  <a:pt x="5747719" y="3384080"/>
                </a:lnTo>
                <a:lnTo>
                  <a:pt x="0" y="338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302" b="-143185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Freeform 7"/>
          <p:cNvSpPr/>
          <p:nvPr/>
        </p:nvSpPr>
        <p:spPr>
          <a:xfrm>
            <a:off x="16811090" y="515242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8" name="TextBox 8"/>
          <p:cNvSpPr txBox="1"/>
          <p:nvPr/>
        </p:nvSpPr>
        <p:spPr>
          <a:xfrm>
            <a:off x="-366671" y="713019"/>
            <a:ext cx="5613091" cy="202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6999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VADER MODEL</a:t>
            </a:r>
          </a:p>
        </p:txBody>
      </p:sp>
      <p:grpSp>
        <p:nvGrpSpPr>
          <p:cNvPr id="9" name="Group 9"/>
          <p:cNvGrpSpPr/>
          <p:nvPr/>
        </p:nvGrpSpPr>
        <p:grpSpPr>
          <a:xfrm rot="5400000">
            <a:off x="4030734" y="1381498"/>
            <a:ext cx="2182403" cy="675993"/>
            <a:chOff x="0" y="0"/>
            <a:chExt cx="574789" cy="1780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4789" cy="178039"/>
            </a:xfrm>
            <a:custGeom>
              <a:avLst/>
              <a:gdLst/>
              <a:ahLst/>
              <a:cxnLst/>
              <a:rect l="l" t="t" r="r" b="b"/>
              <a:pathLst>
                <a:path w="574789" h="178039">
                  <a:moveTo>
                    <a:pt x="89020" y="0"/>
                  </a:moveTo>
                  <a:lnTo>
                    <a:pt x="485770" y="0"/>
                  </a:lnTo>
                  <a:cubicBezTo>
                    <a:pt x="534934" y="0"/>
                    <a:pt x="574789" y="39855"/>
                    <a:pt x="574789" y="89020"/>
                  </a:cubicBezTo>
                  <a:lnTo>
                    <a:pt x="574789" y="89020"/>
                  </a:lnTo>
                  <a:cubicBezTo>
                    <a:pt x="574789" y="112629"/>
                    <a:pt x="565411" y="135272"/>
                    <a:pt x="548716" y="151966"/>
                  </a:cubicBezTo>
                  <a:cubicBezTo>
                    <a:pt x="532022" y="168660"/>
                    <a:pt x="509379" y="178039"/>
                    <a:pt x="485770" y="178039"/>
                  </a:cubicBezTo>
                  <a:lnTo>
                    <a:pt x="89020" y="178039"/>
                  </a:lnTo>
                  <a:cubicBezTo>
                    <a:pt x="39855" y="178039"/>
                    <a:pt x="0" y="138184"/>
                    <a:pt x="0" y="89020"/>
                  </a:cubicBezTo>
                  <a:lnTo>
                    <a:pt x="0" y="89020"/>
                  </a:lnTo>
                  <a:cubicBezTo>
                    <a:pt x="0" y="39855"/>
                    <a:pt x="39855" y="0"/>
                    <a:pt x="89020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74789" cy="2161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4896152" y="776127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3" name="Freeform 13"/>
          <p:cNvSpPr/>
          <p:nvPr/>
        </p:nvSpPr>
        <p:spPr>
          <a:xfrm>
            <a:off x="4896152" y="1528914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4" name="Freeform 14"/>
          <p:cNvSpPr/>
          <p:nvPr/>
        </p:nvSpPr>
        <p:spPr>
          <a:xfrm>
            <a:off x="4896152" y="2245194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5" name="Freeform 15"/>
          <p:cNvSpPr/>
          <p:nvPr/>
        </p:nvSpPr>
        <p:spPr>
          <a:xfrm>
            <a:off x="3599845" y="3628131"/>
            <a:ext cx="7689735" cy="6026830"/>
          </a:xfrm>
          <a:custGeom>
            <a:avLst/>
            <a:gdLst/>
            <a:ahLst/>
            <a:cxnLst/>
            <a:rect l="l" t="t" r="r" b="b"/>
            <a:pathLst>
              <a:path w="7689735" h="6026830">
                <a:moveTo>
                  <a:pt x="0" y="0"/>
                </a:moveTo>
                <a:lnTo>
                  <a:pt x="7689735" y="0"/>
                </a:lnTo>
                <a:lnTo>
                  <a:pt x="7689735" y="6026830"/>
                </a:lnTo>
                <a:lnTo>
                  <a:pt x="0" y="6026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6" name="TextBox 16"/>
          <p:cNvSpPr txBox="1"/>
          <p:nvPr/>
        </p:nvSpPr>
        <p:spPr>
          <a:xfrm>
            <a:off x="10891173" y="718977"/>
            <a:ext cx="5441644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VADER is rule-based and includes heuristics for negations, punctuation emphasis, and intensity modifiers.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91523" y="718977"/>
            <a:ext cx="5199649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Uses SentimentIntensityAnalyzer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91523" y="1471764"/>
            <a:ext cx="5199649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Compound score [-1,1]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691523" y="2231046"/>
            <a:ext cx="5199649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Thresholds ±0.05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65290" y="1957430"/>
            <a:ext cx="10359152" cy="6347896"/>
            <a:chOff x="0" y="0"/>
            <a:chExt cx="2728336" cy="16718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28336" cy="1671874"/>
            </a:xfrm>
            <a:custGeom>
              <a:avLst/>
              <a:gdLst/>
              <a:ahLst/>
              <a:cxnLst/>
              <a:rect l="l" t="t" r="r" b="b"/>
              <a:pathLst>
                <a:path w="2728336" h="1671874">
                  <a:moveTo>
                    <a:pt x="14947" y="0"/>
                  </a:moveTo>
                  <a:lnTo>
                    <a:pt x="2713389" y="0"/>
                  </a:lnTo>
                  <a:cubicBezTo>
                    <a:pt x="2721644" y="0"/>
                    <a:pt x="2728336" y="6692"/>
                    <a:pt x="2728336" y="14947"/>
                  </a:cubicBezTo>
                  <a:lnTo>
                    <a:pt x="2728336" y="1656927"/>
                  </a:lnTo>
                  <a:cubicBezTo>
                    <a:pt x="2728336" y="1665182"/>
                    <a:pt x="2721644" y="1671874"/>
                    <a:pt x="2713389" y="1671874"/>
                  </a:cubicBezTo>
                  <a:lnTo>
                    <a:pt x="14947" y="1671874"/>
                  </a:lnTo>
                  <a:cubicBezTo>
                    <a:pt x="6692" y="1671874"/>
                    <a:pt x="0" y="1665182"/>
                    <a:pt x="0" y="1656927"/>
                  </a:cubicBezTo>
                  <a:lnTo>
                    <a:pt x="0" y="14947"/>
                  </a:lnTo>
                  <a:cubicBezTo>
                    <a:pt x="0" y="6692"/>
                    <a:pt x="6692" y="0"/>
                    <a:pt x="14947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28336" cy="1709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6989496">
            <a:off x="-5112556" y="-1340368"/>
            <a:ext cx="11026567" cy="7966695"/>
          </a:xfrm>
          <a:custGeom>
            <a:avLst/>
            <a:gdLst/>
            <a:ahLst/>
            <a:cxnLst/>
            <a:rect l="l" t="t" r="r" b="b"/>
            <a:pathLst>
              <a:path w="11026567" h="7966695">
                <a:moveTo>
                  <a:pt x="0" y="0"/>
                </a:moveTo>
                <a:lnTo>
                  <a:pt x="11026567" y="0"/>
                </a:lnTo>
                <a:lnTo>
                  <a:pt x="11026567" y="7966695"/>
                </a:lnTo>
                <a:lnTo>
                  <a:pt x="0" y="79666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6" name="Group 6"/>
          <p:cNvGrpSpPr/>
          <p:nvPr/>
        </p:nvGrpSpPr>
        <p:grpSpPr>
          <a:xfrm>
            <a:off x="1078965" y="607245"/>
            <a:ext cx="8010208" cy="1024635"/>
            <a:chOff x="0" y="0"/>
            <a:chExt cx="2109684" cy="2698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09685" cy="269863"/>
            </a:xfrm>
            <a:custGeom>
              <a:avLst/>
              <a:gdLst/>
              <a:ahLst/>
              <a:cxnLst/>
              <a:rect l="l" t="t" r="r" b="b"/>
              <a:pathLst>
                <a:path w="2109685" h="269863">
                  <a:moveTo>
                    <a:pt x="57990" y="0"/>
                  </a:moveTo>
                  <a:lnTo>
                    <a:pt x="2051694" y="0"/>
                  </a:lnTo>
                  <a:cubicBezTo>
                    <a:pt x="2067074" y="0"/>
                    <a:pt x="2081824" y="6110"/>
                    <a:pt x="2092700" y="16985"/>
                  </a:cubicBezTo>
                  <a:cubicBezTo>
                    <a:pt x="2103575" y="27860"/>
                    <a:pt x="2109685" y="42610"/>
                    <a:pt x="2109685" y="57990"/>
                  </a:cubicBezTo>
                  <a:lnTo>
                    <a:pt x="2109685" y="211872"/>
                  </a:lnTo>
                  <a:cubicBezTo>
                    <a:pt x="2109685" y="227252"/>
                    <a:pt x="2103575" y="242002"/>
                    <a:pt x="2092700" y="252878"/>
                  </a:cubicBezTo>
                  <a:cubicBezTo>
                    <a:pt x="2081824" y="263753"/>
                    <a:pt x="2067074" y="269863"/>
                    <a:pt x="2051694" y="269863"/>
                  </a:cubicBezTo>
                  <a:lnTo>
                    <a:pt x="57990" y="269863"/>
                  </a:lnTo>
                  <a:cubicBezTo>
                    <a:pt x="42610" y="269863"/>
                    <a:pt x="27860" y="263753"/>
                    <a:pt x="16985" y="252878"/>
                  </a:cubicBezTo>
                  <a:cubicBezTo>
                    <a:pt x="6110" y="242002"/>
                    <a:pt x="0" y="227252"/>
                    <a:pt x="0" y="211872"/>
                  </a:cubicBezTo>
                  <a:lnTo>
                    <a:pt x="0" y="57990"/>
                  </a:lnTo>
                  <a:cubicBezTo>
                    <a:pt x="0" y="42610"/>
                    <a:pt x="6110" y="27860"/>
                    <a:pt x="16985" y="16985"/>
                  </a:cubicBezTo>
                  <a:cubicBezTo>
                    <a:pt x="27860" y="6110"/>
                    <a:pt x="42610" y="0"/>
                    <a:pt x="57990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BF9F1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09684" cy="307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2967116">
            <a:off x="8721752" y="1407826"/>
            <a:ext cx="12892802" cy="9575242"/>
          </a:xfrm>
          <a:custGeom>
            <a:avLst/>
            <a:gdLst/>
            <a:ahLst/>
            <a:cxnLst/>
            <a:rect l="l" t="t" r="r" b="b"/>
            <a:pathLst>
              <a:path w="12892802" h="9575242">
                <a:moveTo>
                  <a:pt x="0" y="0"/>
                </a:moveTo>
                <a:lnTo>
                  <a:pt x="12892803" y="0"/>
                </a:lnTo>
                <a:lnTo>
                  <a:pt x="12892803" y="9575242"/>
                </a:lnTo>
                <a:lnTo>
                  <a:pt x="0" y="9575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793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0" name="Freeform 10"/>
          <p:cNvSpPr/>
          <p:nvPr/>
        </p:nvSpPr>
        <p:spPr>
          <a:xfrm>
            <a:off x="8384710" y="889235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11" name="Group 11"/>
          <p:cNvGrpSpPr/>
          <p:nvPr/>
        </p:nvGrpSpPr>
        <p:grpSpPr>
          <a:xfrm>
            <a:off x="9251099" y="532745"/>
            <a:ext cx="8010208" cy="1024635"/>
            <a:chOff x="0" y="0"/>
            <a:chExt cx="2109684" cy="2698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09685" cy="269863"/>
            </a:xfrm>
            <a:custGeom>
              <a:avLst/>
              <a:gdLst/>
              <a:ahLst/>
              <a:cxnLst/>
              <a:rect l="l" t="t" r="r" b="b"/>
              <a:pathLst>
                <a:path w="2109685" h="269863">
                  <a:moveTo>
                    <a:pt x="57990" y="0"/>
                  </a:moveTo>
                  <a:lnTo>
                    <a:pt x="2051694" y="0"/>
                  </a:lnTo>
                  <a:cubicBezTo>
                    <a:pt x="2067074" y="0"/>
                    <a:pt x="2081824" y="6110"/>
                    <a:pt x="2092700" y="16985"/>
                  </a:cubicBezTo>
                  <a:cubicBezTo>
                    <a:pt x="2103575" y="27860"/>
                    <a:pt x="2109685" y="42610"/>
                    <a:pt x="2109685" y="57990"/>
                  </a:cubicBezTo>
                  <a:lnTo>
                    <a:pt x="2109685" y="211872"/>
                  </a:lnTo>
                  <a:cubicBezTo>
                    <a:pt x="2109685" y="227252"/>
                    <a:pt x="2103575" y="242002"/>
                    <a:pt x="2092700" y="252878"/>
                  </a:cubicBezTo>
                  <a:cubicBezTo>
                    <a:pt x="2081824" y="263753"/>
                    <a:pt x="2067074" y="269863"/>
                    <a:pt x="2051694" y="269863"/>
                  </a:cubicBezTo>
                  <a:lnTo>
                    <a:pt x="57990" y="269863"/>
                  </a:lnTo>
                  <a:cubicBezTo>
                    <a:pt x="42610" y="269863"/>
                    <a:pt x="27860" y="263753"/>
                    <a:pt x="16985" y="252878"/>
                  </a:cubicBezTo>
                  <a:cubicBezTo>
                    <a:pt x="6110" y="242002"/>
                    <a:pt x="0" y="227252"/>
                    <a:pt x="0" y="211872"/>
                  </a:cubicBezTo>
                  <a:lnTo>
                    <a:pt x="0" y="57990"/>
                  </a:lnTo>
                  <a:cubicBezTo>
                    <a:pt x="0" y="42610"/>
                    <a:pt x="6110" y="27860"/>
                    <a:pt x="16985" y="16985"/>
                  </a:cubicBezTo>
                  <a:cubicBezTo>
                    <a:pt x="27860" y="6110"/>
                    <a:pt x="42610" y="0"/>
                    <a:pt x="57990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BF9F1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109684" cy="307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6476895" y="814735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5" name="Freeform 15"/>
          <p:cNvSpPr/>
          <p:nvPr/>
        </p:nvSpPr>
        <p:spPr>
          <a:xfrm>
            <a:off x="16608890" y="8703795"/>
            <a:ext cx="650410" cy="650410"/>
          </a:xfrm>
          <a:custGeom>
            <a:avLst/>
            <a:gdLst/>
            <a:ahLst/>
            <a:cxnLst/>
            <a:rect l="l" t="t" r="r" b="b"/>
            <a:pathLst>
              <a:path w="650410" h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6" name="Freeform 16"/>
          <p:cNvSpPr/>
          <p:nvPr/>
        </p:nvSpPr>
        <p:spPr>
          <a:xfrm>
            <a:off x="4207633" y="2317430"/>
            <a:ext cx="9872734" cy="5652140"/>
          </a:xfrm>
          <a:custGeom>
            <a:avLst/>
            <a:gdLst/>
            <a:ahLst/>
            <a:cxnLst/>
            <a:rect l="l" t="t" r="r" b="b"/>
            <a:pathLst>
              <a:path w="9872734" h="5652140">
                <a:moveTo>
                  <a:pt x="0" y="0"/>
                </a:moveTo>
                <a:lnTo>
                  <a:pt x="9872734" y="0"/>
                </a:lnTo>
                <a:lnTo>
                  <a:pt x="9872734" y="5652140"/>
                </a:lnTo>
                <a:lnTo>
                  <a:pt x="0" y="5652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7" name="TextBox 17"/>
          <p:cNvSpPr txBox="1"/>
          <p:nvPr/>
        </p:nvSpPr>
        <p:spPr>
          <a:xfrm>
            <a:off x="1554829" y="821748"/>
            <a:ext cx="6667955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POLARITY SCORE [-1,1]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26963" y="747247"/>
            <a:ext cx="6665953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THRESHOLDS ±0.1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92194" y="8737600"/>
            <a:ext cx="9099432" cy="105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6999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TEXTBLOB MODEL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7116894" y="-3283768"/>
            <a:ext cx="9744477" cy="7040385"/>
          </a:xfrm>
          <a:custGeom>
            <a:avLst/>
            <a:gdLst/>
            <a:ahLst/>
            <a:cxnLst/>
            <a:rect l="l" t="t" r="r" b="b"/>
            <a:pathLst>
              <a:path w="9744477" h="7040385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 rot="7410612">
            <a:off x="15236894" y="3514366"/>
            <a:ext cx="9744477" cy="7040385"/>
          </a:xfrm>
          <a:custGeom>
            <a:avLst/>
            <a:gdLst/>
            <a:ahLst/>
            <a:cxnLst/>
            <a:rect l="l" t="t" r="r" b="b"/>
            <a:pathLst>
              <a:path w="9744477" h="7040385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4" name="Group 4"/>
          <p:cNvGrpSpPr/>
          <p:nvPr/>
        </p:nvGrpSpPr>
        <p:grpSpPr>
          <a:xfrm>
            <a:off x="10435387" y="4404316"/>
            <a:ext cx="6823913" cy="839660"/>
            <a:chOff x="0" y="0"/>
            <a:chExt cx="1797245" cy="2211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97245" cy="221145"/>
            </a:xfrm>
            <a:custGeom>
              <a:avLst/>
              <a:gdLst/>
              <a:ahLst/>
              <a:cxnLst/>
              <a:rect l="l" t="t" r="r" b="b"/>
              <a:pathLst>
                <a:path w="1797245" h="221145">
                  <a:moveTo>
                    <a:pt x="68072" y="0"/>
                  </a:moveTo>
                  <a:lnTo>
                    <a:pt x="1729173" y="0"/>
                  </a:lnTo>
                  <a:cubicBezTo>
                    <a:pt x="1766768" y="0"/>
                    <a:pt x="1797245" y="30477"/>
                    <a:pt x="1797245" y="68072"/>
                  </a:cubicBezTo>
                  <a:lnTo>
                    <a:pt x="1797245" y="153073"/>
                  </a:lnTo>
                  <a:cubicBezTo>
                    <a:pt x="1797245" y="190668"/>
                    <a:pt x="1766768" y="221145"/>
                    <a:pt x="1729173" y="221145"/>
                  </a:cubicBezTo>
                  <a:lnTo>
                    <a:pt x="68072" y="221145"/>
                  </a:lnTo>
                  <a:cubicBezTo>
                    <a:pt x="30477" y="221145"/>
                    <a:pt x="0" y="190668"/>
                    <a:pt x="0" y="153073"/>
                  </a:cubicBezTo>
                  <a:lnTo>
                    <a:pt x="0" y="68072"/>
                  </a:lnTo>
                  <a:cubicBezTo>
                    <a:pt x="0" y="30477"/>
                    <a:pt x="30477" y="0"/>
                    <a:pt x="68072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797245" cy="278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Sample size = 1000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435387" y="5437540"/>
            <a:ext cx="6823913" cy="839660"/>
            <a:chOff x="0" y="0"/>
            <a:chExt cx="1797245" cy="2211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97245" cy="221145"/>
            </a:xfrm>
            <a:custGeom>
              <a:avLst/>
              <a:gdLst/>
              <a:ahLst/>
              <a:cxnLst/>
              <a:rect l="l" t="t" r="r" b="b"/>
              <a:pathLst>
                <a:path w="1797245" h="221145">
                  <a:moveTo>
                    <a:pt x="68072" y="0"/>
                  </a:moveTo>
                  <a:lnTo>
                    <a:pt x="1729173" y="0"/>
                  </a:lnTo>
                  <a:cubicBezTo>
                    <a:pt x="1766768" y="0"/>
                    <a:pt x="1797245" y="30477"/>
                    <a:pt x="1797245" y="68072"/>
                  </a:cubicBezTo>
                  <a:lnTo>
                    <a:pt x="1797245" y="153073"/>
                  </a:lnTo>
                  <a:cubicBezTo>
                    <a:pt x="1797245" y="190668"/>
                    <a:pt x="1766768" y="221145"/>
                    <a:pt x="1729173" y="221145"/>
                  </a:cubicBezTo>
                  <a:lnTo>
                    <a:pt x="68072" y="221145"/>
                  </a:lnTo>
                  <a:cubicBezTo>
                    <a:pt x="30477" y="221145"/>
                    <a:pt x="0" y="190668"/>
                    <a:pt x="0" y="153073"/>
                  </a:cubicBezTo>
                  <a:lnTo>
                    <a:pt x="0" y="68072"/>
                  </a:lnTo>
                  <a:cubicBezTo>
                    <a:pt x="0" y="30477"/>
                    <a:pt x="30477" y="0"/>
                    <a:pt x="68072" y="0"/>
                  </a:cubicBezTo>
                  <a:close/>
                </a:path>
              </a:pathLst>
            </a:custGeom>
            <a:solidFill>
              <a:srgbClr val="FFD944"/>
            </a:solidFill>
            <a:ln w="38100" cap="rnd">
              <a:solidFill>
                <a:srgbClr val="FFD944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797245" cy="278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Random seed = 42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435387" y="6470765"/>
            <a:ext cx="6823913" cy="912114"/>
            <a:chOff x="0" y="0"/>
            <a:chExt cx="1797245" cy="24022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97245" cy="240228"/>
            </a:xfrm>
            <a:custGeom>
              <a:avLst/>
              <a:gdLst/>
              <a:ahLst/>
              <a:cxnLst/>
              <a:rect l="l" t="t" r="r" b="b"/>
              <a:pathLst>
                <a:path w="1797245" h="240228">
                  <a:moveTo>
                    <a:pt x="68072" y="0"/>
                  </a:moveTo>
                  <a:lnTo>
                    <a:pt x="1729173" y="0"/>
                  </a:lnTo>
                  <a:cubicBezTo>
                    <a:pt x="1766768" y="0"/>
                    <a:pt x="1797245" y="30477"/>
                    <a:pt x="1797245" y="68072"/>
                  </a:cubicBezTo>
                  <a:lnTo>
                    <a:pt x="1797245" y="172156"/>
                  </a:lnTo>
                  <a:cubicBezTo>
                    <a:pt x="1797245" y="209751"/>
                    <a:pt x="1766768" y="240228"/>
                    <a:pt x="1729173" y="240228"/>
                  </a:cubicBezTo>
                  <a:lnTo>
                    <a:pt x="68072" y="240228"/>
                  </a:lnTo>
                  <a:cubicBezTo>
                    <a:pt x="30477" y="240228"/>
                    <a:pt x="0" y="209751"/>
                    <a:pt x="0" y="172156"/>
                  </a:cubicBezTo>
                  <a:lnTo>
                    <a:pt x="0" y="68072"/>
                  </a:lnTo>
                  <a:cubicBezTo>
                    <a:pt x="0" y="30477"/>
                    <a:pt x="30477" y="0"/>
                    <a:pt x="68072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797245" cy="2783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Metrics: Accuracy, Weighted Precision/Recall/F1, Confusion Matrix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6608890" y="703495"/>
            <a:ext cx="650410" cy="650410"/>
          </a:xfrm>
          <a:custGeom>
            <a:avLst/>
            <a:gdLst/>
            <a:ahLst/>
            <a:cxnLst/>
            <a:rect l="l" t="t" r="r" b="b"/>
            <a:pathLst>
              <a:path w="650410" h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14" name="Group 14"/>
          <p:cNvGrpSpPr/>
          <p:nvPr/>
        </p:nvGrpSpPr>
        <p:grpSpPr>
          <a:xfrm>
            <a:off x="1670921" y="1651535"/>
            <a:ext cx="7473079" cy="3983842"/>
            <a:chOff x="0" y="0"/>
            <a:chExt cx="1968218" cy="104924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68218" cy="1049242"/>
            </a:xfrm>
            <a:custGeom>
              <a:avLst/>
              <a:gdLst/>
              <a:ahLst/>
              <a:cxnLst/>
              <a:rect l="l" t="t" r="r" b="b"/>
              <a:pathLst>
                <a:path w="1968218" h="1049242">
                  <a:moveTo>
                    <a:pt x="62158" y="0"/>
                  </a:moveTo>
                  <a:lnTo>
                    <a:pt x="1906060" y="0"/>
                  </a:lnTo>
                  <a:cubicBezTo>
                    <a:pt x="1940389" y="0"/>
                    <a:pt x="1968218" y="27829"/>
                    <a:pt x="1968218" y="62158"/>
                  </a:cubicBezTo>
                  <a:lnTo>
                    <a:pt x="1968218" y="987084"/>
                  </a:lnTo>
                  <a:cubicBezTo>
                    <a:pt x="1968218" y="1003569"/>
                    <a:pt x="1961670" y="1019379"/>
                    <a:pt x="1950013" y="1031036"/>
                  </a:cubicBezTo>
                  <a:cubicBezTo>
                    <a:pt x="1938356" y="1042693"/>
                    <a:pt x="1922545" y="1049242"/>
                    <a:pt x="1906060" y="1049242"/>
                  </a:cubicBezTo>
                  <a:lnTo>
                    <a:pt x="62158" y="1049242"/>
                  </a:lnTo>
                  <a:cubicBezTo>
                    <a:pt x="27829" y="1049242"/>
                    <a:pt x="0" y="1021413"/>
                    <a:pt x="0" y="987084"/>
                  </a:cubicBezTo>
                  <a:lnTo>
                    <a:pt x="0" y="62158"/>
                  </a:lnTo>
                  <a:cubicBezTo>
                    <a:pt x="0" y="27829"/>
                    <a:pt x="27829" y="0"/>
                    <a:pt x="62158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968218" cy="10873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875428" y="1836223"/>
            <a:ext cx="7097060" cy="3601318"/>
          </a:xfrm>
          <a:custGeom>
            <a:avLst/>
            <a:gdLst/>
            <a:ahLst/>
            <a:cxnLst/>
            <a:rect l="l" t="t" r="r" b="b"/>
            <a:pathLst>
              <a:path w="7097060" h="3601318">
                <a:moveTo>
                  <a:pt x="0" y="0"/>
                </a:moveTo>
                <a:lnTo>
                  <a:pt x="7097059" y="0"/>
                </a:lnTo>
                <a:lnTo>
                  <a:pt x="7097059" y="3601317"/>
                </a:lnTo>
                <a:lnTo>
                  <a:pt x="0" y="36013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8" name="Freeform 18"/>
          <p:cNvSpPr/>
          <p:nvPr/>
        </p:nvSpPr>
        <p:spPr>
          <a:xfrm>
            <a:off x="1028700" y="6674176"/>
            <a:ext cx="8790515" cy="2063445"/>
          </a:xfrm>
          <a:custGeom>
            <a:avLst/>
            <a:gdLst/>
            <a:ahLst/>
            <a:cxnLst/>
            <a:rect l="l" t="t" r="r" b="b"/>
            <a:pathLst>
              <a:path w="8790515" h="2063445">
                <a:moveTo>
                  <a:pt x="0" y="0"/>
                </a:moveTo>
                <a:lnTo>
                  <a:pt x="8790515" y="0"/>
                </a:lnTo>
                <a:lnTo>
                  <a:pt x="8790515" y="2063445"/>
                </a:lnTo>
                <a:lnTo>
                  <a:pt x="0" y="20634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9" name="TextBox 19"/>
          <p:cNvSpPr txBox="1"/>
          <p:nvPr/>
        </p:nvSpPr>
        <p:spPr>
          <a:xfrm>
            <a:off x="9986902" y="2239146"/>
            <a:ext cx="7720883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SAMPLING &amp; EVALUATION SETUP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844699" y="6470765"/>
            <a:ext cx="9142204" cy="2266857"/>
            <a:chOff x="0" y="0"/>
            <a:chExt cx="2407823" cy="59703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07823" cy="597032"/>
            </a:xfrm>
            <a:custGeom>
              <a:avLst/>
              <a:gdLst/>
              <a:ahLst/>
              <a:cxnLst/>
              <a:rect l="l" t="t" r="r" b="b"/>
              <a:pathLst>
                <a:path w="2407823" h="597032">
                  <a:moveTo>
                    <a:pt x="50810" y="0"/>
                  </a:moveTo>
                  <a:lnTo>
                    <a:pt x="2357013" y="0"/>
                  </a:lnTo>
                  <a:cubicBezTo>
                    <a:pt x="2385075" y="0"/>
                    <a:pt x="2407823" y="22748"/>
                    <a:pt x="2407823" y="50810"/>
                  </a:cubicBezTo>
                  <a:lnTo>
                    <a:pt x="2407823" y="546222"/>
                  </a:lnTo>
                  <a:cubicBezTo>
                    <a:pt x="2407823" y="574284"/>
                    <a:pt x="2385075" y="597032"/>
                    <a:pt x="2357013" y="597032"/>
                  </a:cubicBezTo>
                  <a:lnTo>
                    <a:pt x="50810" y="597032"/>
                  </a:lnTo>
                  <a:cubicBezTo>
                    <a:pt x="22748" y="597032"/>
                    <a:pt x="0" y="574284"/>
                    <a:pt x="0" y="546222"/>
                  </a:cubicBezTo>
                  <a:lnTo>
                    <a:pt x="0" y="50810"/>
                  </a:lnTo>
                  <a:cubicBezTo>
                    <a:pt x="0" y="22748"/>
                    <a:pt x="22748" y="0"/>
                    <a:pt x="50810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407823" cy="635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355821" flipH="1" flipV="1">
            <a:off x="-2504688" y="-458160"/>
            <a:ext cx="9940582" cy="10671659"/>
          </a:xfrm>
          <a:custGeom>
            <a:avLst/>
            <a:gdLst/>
            <a:ahLst/>
            <a:cxnLst/>
            <a:rect l="l" t="t" r="r" b="b"/>
            <a:pathLst>
              <a:path w="9940582" h="10671659">
                <a:moveTo>
                  <a:pt x="9940582" y="10671659"/>
                </a:moveTo>
                <a:lnTo>
                  <a:pt x="0" y="10671659"/>
                </a:lnTo>
                <a:lnTo>
                  <a:pt x="0" y="0"/>
                </a:lnTo>
                <a:lnTo>
                  <a:pt x="9940582" y="0"/>
                </a:lnTo>
                <a:lnTo>
                  <a:pt x="9940582" y="10671659"/>
                </a:lnTo>
                <a:close/>
              </a:path>
            </a:pathLst>
          </a:custGeom>
          <a:blipFill>
            <a:blip r:embed="rId2"/>
            <a:stretch>
              <a:fillRect l="-54" r="-54"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3" name="Group 3"/>
          <p:cNvGrpSpPr/>
          <p:nvPr/>
        </p:nvGrpSpPr>
        <p:grpSpPr>
          <a:xfrm>
            <a:off x="1058834" y="5403751"/>
            <a:ext cx="2042705" cy="932720"/>
            <a:chOff x="0" y="0"/>
            <a:chExt cx="537996" cy="24565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7996" cy="245655"/>
            </a:xfrm>
            <a:custGeom>
              <a:avLst/>
              <a:gdLst/>
              <a:ahLst/>
              <a:cxnLst/>
              <a:rect l="l" t="t" r="r" b="b"/>
              <a:pathLst>
                <a:path w="537996" h="245655">
                  <a:moveTo>
                    <a:pt x="122827" y="0"/>
                  </a:moveTo>
                  <a:lnTo>
                    <a:pt x="415169" y="0"/>
                  </a:lnTo>
                  <a:cubicBezTo>
                    <a:pt x="483005" y="0"/>
                    <a:pt x="537996" y="54992"/>
                    <a:pt x="537996" y="122827"/>
                  </a:cubicBezTo>
                  <a:lnTo>
                    <a:pt x="537996" y="122827"/>
                  </a:lnTo>
                  <a:cubicBezTo>
                    <a:pt x="537996" y="155403"/>
                    <a:pt x="525056" y="186645"/>
                    <a:pt x="502021" y="209679"/>
                  </a:cubicBezTo>
                  <a:cubicBezTo>
                    <a:pt x="478987" y="232714"/>
                    <a:pt x="447745" y="245655"/>
                    <a:pt x="415169" y="245655"/>
                  </a:cubicBezTo>
                  <a:lnTo>
                    <a:pt x="122827" y="245655"/>
                  </a:lnTo>
                  <a:cubicBezTo>
                    <a:pt x="90251" y="245655"/>
                    <a:pt x="59010" y="232714"/>
                    <a:pt x="35975" y="209679"/>
                  </a:cubicBezTo>
                  <a:cubicBezTo>
                    <a:pt x="12941" y="186645"/>
                    <a:pt x="0" y="155403"/>
                    <a:pt x="0" y="122827"/>
                  </a:cubicBezTo>
                  <a:lnTo>
                    <a:pt x="0" y="122827"/>
                  </a:lnTo>
                  <a:cubicBezTo>
                    <a:pt x="0" y="90251"/>
                    <a:pt x="12941" y="59010"/>
                    <a:pt x="35975" y="35975"/>
                  </a:cubicBezTo>
                  <a:cubicBezTo>
                    <a:pt x="59010" y="12941"/>
                    <a:pt x="90251" y="0"/>
                    <a:pt x="122827" y="0"/>
                  </a:cubicBezTo>
                  <a:close/>
                </a:path>
              </a:pathLst>
            </a:custGeom>
            <a:solidFill>
              <a:srgbClr val="FFD944"/>
            </a:solidFill>
            <a:ln w="38100" cap="rnd">
              <a:solidFill>
                <a:srgbClr val="FFD944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37996" cy="293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MODEL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407359" y="5403751"/>
            <a:ext cx="3235401" cy="932720"/>
            <a:chOff x="0" y="0"/>
            <a:chExt cx="852122" cy="2456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52122" cy="245655"/>
            </a:xfrm>
            <a:custGeom>
              <a:avLst/>
              <a:gdLst/>
              <a:ahLst/>
              <a:cxnLst/>
              <a:rect l="l" t="t" r="r" b="b"/>
              <a:pathLst>
                <a:path w="852122" h="245655">
                  <a:moveTo>
                    <a:pt x="122827" y="0"/>
                  </a:moveTo>
                  <a:lnTo>
                    <a:pt x="729295" y="0"/>
                  </a:lnTo>
                  <a:cubicBezTo>
                    <a:pt x="797130" y="0"/>
                    <a:pt x="852122" y="54992"/>
                    <a:pt x="852122" y="122827"/>
                  </a:cubicBezTo>
                  <a:lnTo>
                    <a:pt x="852122" y="122827"/>
                  </a:lnTo>
                  <a:cubicBezTo>
                    <a:pt x="852122" y="155403"/>
                    <a:pt x="839181" y="186645"/>
                    <a:pt x="816147" y="209679"/>
                  </a:cubicBezTo>
                  <a:cubicBezTo>
                    <a:pt x="793112" y="232714"/>
                    <a:pt x="761871" y="245655"/>
                    <a:pt x="729295" y="245655"/>
                  </a:cubicBezTo>
                  <a:lnTo>
                    <a:pt x="122827" y="245655"/>
                  </a:lnTo>
                  <a:cubicBezTo>
                    <a:pt x="90251" y="245655"/>
                    <a:pt x="59010" y="232714"/>
                    <a:pt x="35975" y="209679"/>
                  </a:cubicBezTo>
                  <a:cubicBezTo>
                    <a:pt x="12941" y="186645"/>
                    <a:pt x="0" y="155403"/>
                    <a:pt x="0" y="122827"/>
                  </a:cubicBezTo>
                  <a:lnTo>
                    <a:pt x="0" y="122827"/>
                  </a:lnTo>
                  <a:cubicBezTo>
                    <a:pt x="0" y="90251"/>
                    <a:pt x="12941" y="59010"/>
                    <a:pt x="35975" y="35975"/>
                  </a:cubicBezTo>
                  <a:cubicBezTo>
                    <a:pt x="59010" y="12941"/>
                    <a:pt x="90251" y="0"/>
                    <a:pt x="122827" y="0"/>
                  </a:cubicBezTo>
                  <a:close/>
                </a:path>
              </a:pathLst>
            </a:custGeom>
            <a:solidFill>
              <a:srgbClr val="FFD944"/>
            </a:solidFill>
            <a:ln w="38100" cap="rnd">
              <a:solidFill>
                <a:srgbClr val="FFD944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52122" cy="293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Accuracy</a:t>
              </a:r>
            </a:p>
          </p:txBody>
        </p:sp>
      </p:grpSp>
      <p:graphicFrame>
        <p:nvGraphicFramePr>
          <p:cNvPr id="9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761915"/>
              </p:ext>
            </p:extLst>
          </p:nvPr>
        </p:nvGraphicFramePr>
        <p:xfrm>
          <a:off x="844760" y="6633575"/>
          <a:ext cx="16598479" cy="3217465"/>
        </p:xfrm>
        <a:graphic>
          <a:graphicData uri="http://schemas.openxmlformats.org/drawingml/2006/table">
            <a:tbl>
              <a:tblPr/>
              <a:tblGrid>
                <a:gridCol w="239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6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4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4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4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07690">
                <a:tc>
                  <a:txBody>
                    <a:bodyPr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lang="en-US" sz="35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dirty="0">
                          <a:solidFill>
                            <a:srgbClr val="E5E1D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0.831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dirty="0">
                          <a:solidFill>
                            <a:srgbClr val="E5E1D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0.806164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dirty="0">
                          <a:solidFill>
                            <a:srgbClr val="E5E1D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0.831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dirty="0">
                          <a:solidFill>
                            <a:srgbClr val="E5E1D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0.817365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9775">
                <a:tc>
                  <a:txBody>
                    <a:bodyPr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lang="en-US" sz="35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TextBlob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dirty="0">
                          <a:solidFill>
                            <a:srgbClr val="E5E1D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0.783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dirty="0">
                          <a:solidFill>
                            <a:srgbClr val="E5E1D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0.780078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dirty="0">
                          <a:solidFill>
                            <a:srgbClr val="E5E1D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0.783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dirty="0">
                          <a:solidFill>
                            <a:srgbClr val="E5E1D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0.778511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6947560" y="5403751"/>
            <a:ext cx="3235401" cy="932720"/>
            <a:chOff x="0" y="0"/>
            <a:chExt cx="852122" cy="24565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52122" cy="245655"/>
            </a:xfrm>
            <a:custGeom>
              <a:avLst/>
              <a:gdLst/>
              <a:ahLst/>
              <a:cxnLst/>
              <a:rect l="l" t="t" r="r" b="b"/>
              <a:pathLst>
                <a:path w="852122" h="245655">
                  <a:moveTo>
                    <a:pt x="122827" y="0"/>
                  </a:moveTo>
                  <a:lnTo>
                    <a:pt x="729295" y="0"/>
                  </a:lnTo>
                  <a:cubicBezTo>
                    <a:pt x="797130" y="0"/>
                    <a:pt x="852122" y="54992"/>
                    <a:pt x="852122" y="122827"/>
                  </a:cubicBezTo>
                  <a:lnTo>
                    <a:pt x="852122" y="122827"/>
                  </a:lnTo>
                  <a:cubicBezTo>
                    <a:pt x="852122" y="155403"/>
                    <a:pt x="839181" y="186645"/>
                    <a:pt x="816147" y="209679"/>
                  </a:cubicBezTo>
                  <a:cubicBezTo>
                    <a:pt x="793112" y="232714"/>
                    <a:pt x="761871" y="245655"/>
                    <a:pt x="729295" y="245655"/>
                  </a:cubicBezTo>
                  <a:lnTo>
                    <a:pt x="122827" y="245655"/>
                  </a:lnTo>
                  <a:cubicBezTo>
                    <a:pt x="90251" y="245655"/>
                    <a:pt x="59010" y="232714"/>
                    <a:pt x="35975" y="209679"/>
                  </a:cubicBezTo>
                  <a:cubicBezTo>
                    <a:pt x="12941" y="186645"/>
                    <a:pt x="0" y="155403"/>
                    <a:pt x="0" y="122827"/>
                  </a:cubicBezTo>
                  <a:lnTo>
                    <a:pt x="0" y="122827"/>
                  </a:lnTo>
                  <a:cubicBezTo>
                    <a:pt x="0" y="90251"/>
                    <a:pt x="12941" y="59010"/>
                    <a:pt x="35975" y="35975"/>
                  </a:cubicBezTo>
                  <a:cubicBezTo>
                    <a:pt x="59010" y="12941"/>
                    <a:pt x="90251" y="0"/>
                    <a:pt x="122827" y="0"/>
                  </a:cubicBezTo>
                  <a:close/>
                </a:path>
              </a:pathLst>
            </a:custGeom>
            <a:solidFill>
              <a:srgbClr val="FFD944"/>
            </a:solidFill>
            <a:ln w="38100" cap="rnd">
              <a:solidFill>
                <a:srgbClr val="FFD944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852122" cy="293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Precision (weighted)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87761" y="5403751"/>
            <a:ext cx="3235401" cy="932720"/>
            <a:chOff x="0" y="0"/>
            <a:chExt cx="852122" cy="24565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52122" cy="245655"/>
            </a:xfrm>
            <a:custGeom>
              <a:avLst/>
              <a:gdLst/>
              <a:ahLst/>
              <a:cxnLst/>
              <a:rect l="l" t="t" r="r" b="b"/>
              <a:pathLst>
                <a:path w="852122" h="245655">
                  <a:moveTo>
                    <a:pt x="122827" y="0"/>
                  </a:moveTo>
                  <a:lnTo>
                    <a:pt x="729295" y="0"/>
                  </a:lnTo>
                  <a:cubicBezTo>
                    <a:pt x="797130" y="0"/>
                    <a:pt x="852122" y="54992"/>
                    <a:pt x="852122" y="122827"/>
                  </a:cubicBezTo>
                  <a:lnTo>
                    <a:pt x="852122" y="122827"/>
                  </a:lnTo>
                  <a:cubicBezTo>
                    <a:pt x="852122" y="155403"/>
                    <a:pt x="839181" y="186645"/>
                    <a:pt x="816147" y="209679"/>
                  </a:cubicBezTo>
                  <a:cubicBezTo>
                    <a:pt x="793112" y="232714"/>
                    <a:pt x="761871" y="245655"/>
                    <a:pt x="729295" y="245655"/>
                  </a:cubicBezTo>
                  <a:lnTo>
                    <a:pt x="122827" y="245655"/>
                  </a:lnTo>
                  <a:cubicBezTo>
                    <a:pt x="90251" y="245655"/>
                    <a:pt x="59010" y="232714"/>
                    <a:pt x="35975" y="209679"/>
                  </a:cubicBezTo>
                  <a:cubicBezTo>
                    <a:pt x="12941" y="186645"/>
                    <a:pt x="0" y="155403"/>
                    <a:pt x="0" y="122827"/>
                  </a:cubicBezTo>
                  <a:lnTo>
                    <a:pt x="0" y="122827"/>
                  </a:lnTo>
                  <a:cubicBezTo>
                    <a:pt x="0" y="90251"/>
                    <a:pt x="12941" y="59010"/>
                    <a:pt x="35975" y="35975"/>
                  </a:cubicBezTo>
                  <a:cubicBezTo>
                    <a:pt x="59010" y="12941"/>
                    <a:pt x="90251" y="0"/>
                    <a:pt x="122827" y="0"/>
                  </a:cubicBezTo>
                  <a:close/>
                </a:path>
              </a:pathLst>
            </a:custGeom>
            <a:solidFill>
              <a:srgbClr val="FFD944"/>
            </a:solidFill>
            <a:ln w="38100" cap="rnd">
              <a:solidFill>
                <a:srgbClr val="FFD944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852122" cy="293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Recall (weighted)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027962" y="5403751"/>
            <a:ext cx="3235401" cy="932720"/>
            <a:chOff x="0" y="0"/>
            <a:chExt cx="852122" cy="24565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52122" cy="245655"/>
            </a:xfrm>
            <a:custGeom>
              <a:avLst/>
              <a:gdLst/>
              <a:ahLst/>
              <a:cxnLst/>
              <a:rect l="l" t="t" r="r" b="b"/>
              <a:pathLst>
                <a:path w="852122" h="245655">
                  <a:moveTo>
                    <a:pt x="122827" y="0"/>
                  </a:moveTo>
                  <a:lnTo>
                    <a:pt x="729295" y="0"/>
                  </a:lnTo>
                  <a:cubicBezTo>
                    <a:pt x="797130" y="0"/>
                    <a:pt x="852122" y="54992"/>
                    <a:pt x="852122" y="122827"/>
                  </a:cubicBezTo>
                  <a:lnTo>
                    <a:pt x="852122" y="122827"/>
                  </a:lnTo>
                  <a:cubicBezTo>
                    <a:pt x="852122" y="155403"/>
                    <a:pt x="839181" y="186645"/>
                    <a:pt x="816147" y="209679"/>
                  </a:cubicBezTo>
                  <a:cubicBezTo>
                    <a:pt x="793112" y="232714"/>
                    <a:pt x="761871" y="245655"/>
                    <a:pt x="729295" y="245655"/>
                  </a:cubicBezTo>
                  <a:lnTo>
                    <a:pt x="122827" y="245655"/>
                  </a:lnTo>
                  <a:cubicBezTo>
                    <a:pt x="90251" y="245655"/>
                    <a:pt x="59010" y="232714"/>
                    <a:pt x="35975" y="209679"/>
                  </a:cubicBezTo>
                  <a:cubicBezTo>
                    <a:pt x="12941" y="186645"/>
                    <a:pt x="0" y="155403"/>
                    <a:pt x="0" y="122827"/>
                  </a:cubicBezTo>
                  <a:lnTo>
                    <a:pt x="0" y="122827"/>
                  </a:lnTo>
                  <a:cubicBezTo>
                    <a:pt x="0" y="90251"/>
                    <a:pt x="12941" y="59010"/>
                    <a:pt x="35975" y="35975"/>
                  </a:cubicBezTo>
                  <a:cubicBezTo>
                    <a:pt x="59010" y="12941"/>
                    <a:pt x="90251" y="0"/>
                    <a:pt x="122827" y="0"/>
                  </a:cubicBezTo>
                  <a:close/>
                </a:path>
              </a:pathLst>
            </a:custGeom>
            <a:solidFill>
              <a:srgbClr val="FFD944"/>
            </a:solidFill>
            <a:ln w="38100" cap="rnd">
              <a:solidFill>
                <a:srgbClr val="FFD944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52122" cy="293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F1 (weighted)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2465603" y="2020400"/>
            <a:ext cx="13600306" cy="2771062"/>
          </a:xfrm>
          <a:custGeom>
            <a:avLst/>
            <a:gdLst/>
            <a:ahLst/>
            <a:cxnLst/>
            <a:rect l="l" t="t" r="r" b="b"/>
            <a:pathLst>
              <a:path w="13600306" h="2771062">
                <a:moveTo>
                  <a:pt x="0" y="0"/>
                </a:moveTo>
                <a:lnTo>
                  <a:pt x="13600306" y="0"/>
                </a:lnTo>
                <a:lnTo>
                  <a:pt x="13600306" y="2771063"/>
                </a:lnTo>
                <a:lnTo>
                  <a:pt x="0" y="27710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0" name="TextBox 20"/>
          <p:cNvSpPr txBox="1"/>
          <p:nvPr/>
        </p:nvSpPr>
        <p:spPr>
          <a:xfrm>
            <a:off x="5400175" y="649287"/>
            <a:ext cx="7487649" cy="75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 TABLE 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2376458" y="2020400"/>
            <a:ext cx="13882404" cy="2771062"/>
            <a:chOff x="0" y="0"/>
            <a:chExt cx="3656271" cy="72982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656271" cy="729827"/>
            </a:xfrm>
            <a:custGeom>
              <a:avLst/>
              <a:gdLst/>
              <a:ahLst/>
              <a:cxnLst/>
              <a:rect l="l" t="t" r="r" b="b"/>
              <a:pathLst>
                <a:path w="3656271" h="729827">
                  <a:moveTo>
                    <a:pt x="33461" y="0"/>
                  </a:moveTo>
                  <a:lnTo>
                    <a:pt x="3622810" y="0"/>
                  </a:lnTo>
                  <a:cubicBezTo>
                    <a:pt x="3641290" y="0"/>
                    <a:pt x="3656271" y="14981"/>
                    <a:pt x="3656271" y="33461"/>
                  </a:cubicBezTo>
                  <a:lnTo>
                    <a:pt x="3656271" y="696366"/>
                  </a:lnTo>
                  <a:cubicBezTo>
                    <a:pt x="3656271" y="705241"/>
                    <a:pt x="3652746" y="713752"/>
                    <a:pt x="3646470" y="720027"/>
                  </a:cubicBezTo>
                  <a:cubicBezTo>
                    <a:pt x="3640196" y="726302"/>
                    <a:pt x="3631685" y="729827"/>
                    <a:pt x="3622810" y="729827"/>
                  </a:cubicBezTo>
                  <a:lnTo>
                    <a:pt x="33461" y="729827"/>
                  </a:lnTo>
                  <a:cubicBezTo>
                    <a:pt x="24586" y="729827"/>
                    <a:pt x="16076" y="726302"/>
                    <a:pt x="9800" y="720027"/>
                  </a:cubicBezTo>
                  <a:cubicBezTo>
                    <a:pt x="3525" y="713752"/>
                    <a:pt x="0" y="705241"/>
                    <a:pt x="0" y="696366"/>
                  </a:cubicBezTo>
                  <a:lnTo>
                    <a:pt x="0" y="33461"/>
                  </a:lnTo>
                  <a:cubicBezTo>
                    <a:pt x="0" y="24586"/>
                    <a:pt x="3525" y="16076"/>
                    <a:pt x="9800" y="9800"/>
                  </a:cubicBezTo>
                  <a:cubicBezTo>
                    <a:pt x="16076" y="3525"/>
                    <a:pt x="24586" y="0"/>
                    <a:pt x="33461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3656271" cy="767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989496">
            <a:off x="-5091968" y="-1340368"/>
            <a:ext cx="11026567" cy="7966695"/>
          </a:xfrm>
          <a:custGeom>
            <a:avLst/>
            <a:gdLst/>
            <a:ahLst/>
            <a:cxnLst/>
            <a:rect l="l" t="t" r="r" b="b"/>
            <a:pathLst>
              <a:path w="11026567" h="7966695">
                <a:moveTo>
                  <a:pt x="0" y="0"/>
                </a:moveTo>
                <a:lnTo>
                  <a:pt x="11026567" y="0"/>
                </a:lnTo>
                <a:lnTo>
                  <a:pt x="11026567" y="7966695"/>
                </a:lnTo>
                <a:lnTo>
                  <a:pt x="0" y="79666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 rot="-2967116">
            <a:off x="8691170" y="1377244"/>
            <a:ext cx="12892802" cy="9575242"/>
          </a:xfrm>
          <a:custGeom>
            <a:avLst/>
            <a:gdLst/>
            <a:ahLst/>
            <a:cxnLst/>
            <a:rect l="l" t="t" r="r" b="b"/>
            <a:pathLst>
              <a:path w="12892802" h="9575242">
                <a:moveTo>
                  <a:pt x="0" y="0"/>
                </a:moveTo>
                <a:lnTo>
                  <a:pt x="12892803" y="0"/>
                </a:lnTo>
                <a:lnTo>
                  <a:pt x="12892803" y="9575242"/>
                </a:lnTo>
                <a:lnTo>
                  <a:pt x="0" y="9575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793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16608890" y="8703795"/>
            <a:ext cx="650410" cy="650410"/>
          </a:xfrm>
          <a:custGeom>
            <a:avLst/>
            <a:gdLst/>
            <a:ahLst/>
            <a:cxnLst/>
            <a:rect l="l" t="t" r="r" b="b"/>
            <a:pathLst>
              <a:path w="650410" h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1278341" y="5143500"/>
            <a:ext cx="6030592" cy="4522944"/>
          </a:xfrm>
          <a:custGeom>
            <a:avLst/>
            <a:gdLst/>
            <a:ahLst/>
            <a:cxnLst/>
            <a:rect l="l" t="t" r="r" b="b"/>
            <a:pathLst>
              <a:path w="6030592" h="4522944">
                <a:moveTo>
                  <a:pt x="0" y="0"/>
                </a:moveTo>
                <a:lnTo>
                  <a:pt x="6030592" y="0"/>
                </a:lnTo>
                <a:lnTo>
                  <a:pt x="6030592" y="4522944"/>
                </a:lnTo>
                <a:lnTo>
                  <a:pt x="0" y="45229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>
            <a:off x="415110" y="381508"/>
            <a:ext cx="6030592" cy="4522944"/>
          </a:xfrm>
          <a:custGeom>
            <a:avLst/>
            <a:gdLst/>
            <a:ahLst/>
            <a:cxnLst/>
            <a:rect l="l" t="t" r="r" b="b"/>
            <a:pathLst>
              <a:path w="6030592" h="4522944">
                <a:moveTo>
                  <a:pt x="0" y="0"/>
                </a:moveTo>
                <a:lnTo>
                  <a:pt x="6030592" y="0"/>
                </a:lnTo>
                <a:lnTo>
                  <a:pt x="6030592" y="4522944"/>
                </a:lnTo>
                <a:lnTo>
                  <a:pt x="0" y="45229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Freeform 7"/>
          <p:cNvSpPr/>
          <p:nvPr/>
        </p:nvSpPr>
        <p:spPr>
          <a:xfrm>
            <a:off x="6986741" y="381508"/>
            <a:ext cx="11301259" cy="2839441"/>
          </a:xfrm>
          <a:custGeom>
            <a:avLst/>
            <a:gdLst/>
            <a:ahLst/>
            <a:cxnLst/>
            <a:rect l="l" t="t" r="r" b="b"/>
            <a:pathLst>
              <a:path w="11301259" h="2839441">
                <a:moveTo>
                  <a:pt x="0" y="0"/>
                </a:moveTo>
                <a:lnTo>
                  <a:pt x="11301259" y="0"/>
                </a:lnTo>
                <a:lnTo>
                  <a:pt x="11301259" y="2839441"/>
                </a:lnTo>
                <a:lnTo>
                  <a:pt x="0" y="28394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8" name="Freeform 8"/>
          <p:cNvSpPr/>
          <p:nvPr/>
        </p:nvSpPr>
        <p:spPr>
          <a:xfrm>
            <a:off x="7706498" y="3653549"/>
            <a:ext cx="11301259" cy="3079593"/>
          </a:xfrm>
          <a:custGeom>
            <a:avLst/>
            <a:gdLst/>
            <a:ahLst/>
            <a:cxnLst/>
            <a:rect l="l" t="t" r="r" b="b"/>
            <a:pathLst>
              <a:path w="11301259" h="3079593">
                <a:moveTo>
                  <a:pt x="0" y="0"/>
                </a:moveTo>
                <a:lnTo>
                  <a:pt x="11301259" y="0"/>
                </a:lnTo>
                <a:lnTo>
                  <a:pt x="11301259" y="3079593"/>
                </a:lnTo>
                <a:lnTo>
                  <a:pt x="0" y="30795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9" name="TextBox 9"/>
          <p:cNvSpPr txBox="1"/>
          <p:nvPr/>
        </p:nvSpPr>
        <p:spPr>
          <a:xfrm>
            <a:off x="8409846" y="8086327"/>
            <a:ext cx="9099432" cy="202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6999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CONFUSION MATRICES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26768" y="6923642"/>
            <a:ext cx="7662329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Both models perform best on the Positive class. Neutral is the hardest to classify.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986741" y="381508"/>
            <a:ext cx="13882404" cy="2771062"/>
            <a:chOff x="0" y="0"/>
            <a:chExt cx="3656271" cy="72982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56271" cy="729827"/>
            </a:xfrm>
            <a:custGeom>
              <a:avLst/>
              <a:gdLst/>
              <a:ahLst/>
              <a:cxnLst/>
              <a:rect l="l" t="t" r="r" b="b"/>
              <a:pathLst>
                <a:path w="3656271" h="729827">
                  <a:moveTo>
                    <a:pt x="33461" y="0"/>
                  </a:moveTo>
                  <a:lnTo>
                    <a:pt x="3622810" y="0"/>
                  </a:lnTo>
                  <a:cubicBezTo>
                    <a:pt x="3641290" y="0"/>
                    <a:pt x="3656271" y="14981"/>
                    <a:pt x="3656271" y="33461"/>
                  </a:cubicBezTo>
                  <a:lnTo>
                    <a:pt x="3656271" y="696366"/>
                  </a:lnTo>
                  <a:cubicBezTo>
                    <a:pt x="3656271" y="705241"/>
                    <a:pt x="3652746" y="713752"/>
                    <a:pt x="3646470" y="720027"/>
                  </a:cubicBezTo>
                  <a:cubicBezTo>
                    <a:pt x="3640196" y="726302"/>
                    <a:pt x="3631685" y="729827"/>
                    <a:pt x="3622810" y="729827"/>
                  </a:cubicBezTo>
                  <a:lnTo>
                    <a:pt x="33461" y="729827"/>
                  </a:lnTo>
                  <a:cubicBezTo>
                    <a:pt x="24586" y="729827"/>
                    <a:pt x="16076" y="726302"/>
                    <a:pt x="9800" y="720027"/>
                  </a:cubicBezTo>
                  <a:cubicBezTo>
                    <a:pt x="3525" y="713752"/>
                    <a:pt x="0" y="705241"/>
                    <a:pt x="0" y="696366"/>
                  </a:cubicBezTo>
                  <a:lnTo>
                    <a:pt x="0" y="33461"/>
                  </a:lnTo>
                  <a:cubicBezTo>
                    <a:pt x="0" y="24586"/>
                    <a:pt x="3525" y="16076"/>
                    <a:pt x="9800" y="9800"/>
                  </a:cubicBezTo>
                  <a:cubicBezTo>
                    <a:pt x="16076" y="3525"/>
                    <a:pt x="24586" y="0"/>
                    <a:pt x="33461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56271" cy="767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706498" y="3653549"/>
            <a:ext cx="13882404" cy="3079593"/>
            <a:chOff x="0" y="0"/>
            <a:chExt cx="3656271" cy="81108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656271" cy="811086"/>
            </a:xfrm>
            <a:custGeom>
              <a:avLst/>
              <a:gdLst/>
              <a:ahLst/>
              <a:cxnLst/>
              <a:rect l="l" t="t" r="r" b="b"/>
              <a:pathLst>
                <a:path w="3656271" h="811086">
                  <a:moveTo>
                    <a:pt x="33461" y="0"/>
                  </a:moveTo>
                  <a:lnTo>
                    <a:pt x="3622810" y="0"/>
                  </a:lnTo>
                  <a:cubicBezTo>
                    <a:pt x="3641290" y="0"/>
                    <a:pt x="3656271" y="14981"/>
                    <a:pt x="3656271" y="33461"/>
                  </a:cubicBezTo>
                  <a:lnTo>
                    <a:pt x="3656271" y="777626"/>
                  </a:lnTo>
                  <a:cubicBezTo>
                    <a:pt x="3656271" y="786500"/>
                    <a:pt x="3652746" y="795011"/>
                    <a:pt x="3646470" y="801286"/>
                  </a:cubicBezTo>
                  <a:cubicBezTo>
                    <a:pt x="3640196" y="807561"/>
                    <a:pt x="3631685" y="811086"/>
                    <a:pt x="3622810" y="811086"/>
                  </a:cubicBezTo>
                  <a:lnTo>
                    <a:pt x="33461" y="811086"/>
                  </a:lnTo>
                  <a:cubicBezTo>
                    <a:pt x="24586" y="811086"/>
                    <a:pt x="16076" y="807561"/>
                    <a:pt x="9800" y="801286"/>
                  </a:cubicBezTo>
                  <a:cubicBezTo>
                    <a:pt x="3525" y="795011"/>
                    <a:pt x="0" y="786500"/>
                    <a:pt x="0" y="777626"/>
                  </a:cubicBezTo>
                  <a:lnTo>
                    <a:pt x="0" y="33461"/>
                  </a:lnTo>
                  <a:cubicBezTo>
                    <a:pt x="0" y="24586"/>
                    <a:pt x="3525" y="16076"/>
                    <a:pt x="9800" y="9800"/>
                  </a:cubicBezTo>
                  <a:cubicBezTo>
                    <a:pt x="16076" y="3525"/>
                    <a:pt x="24586" y="0"/>
                    <a:pt x="33461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656271" cy="8491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90D233-F229-B5E7-490B-CDD924FD3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76F0A18-8CBF-6870-4A61-A8FD85242663}"/>
              </a:ext>
            </a:extLst>
          </p:cNvPr>
          <p:cNvSpPr/>
          <p:nvPr/>
        </p:nvSpPr>
        <p:spPr>
          <a:xfrm rot="6989496">
            <a:off x="-5091968" y="-1340368"/>
            <a:ext cx="11026567" cy="7966695"/>
          </a:xfrm>
          <a:custGeom>
            <a:avLst/>
            <a:gdLst/>
            <a:ahLst/>
            <a:cxnLst/>
            <a:rect l="l" t="t" r="r" b="b"/>
            <a:pathLst>
              <a:path w="11026567" h="7966695">
                <a:moveTo>
                  <a:pt x="0" y="0"/>
                </a:moveTo>
                <a:lnTo>
                  <a:pt x="11026567" y="0"/>
                </a:lnTo>
                <a:lnTo>
                  <a:pt x="11026567" y="7966695"/>
                </a:lnTo>
                <a:lnTo>
                  <a:pt x="0" y="79666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0A55BCE-FF60-899F-B71A-89084CC6728A}"/>
              </a:ext>
            </a:extLst>
          </p:cNvPr>
          <p:cNvSpPr/>
          <p:nvPr/>
        </p:nvSpPr>
        <p:spPr>
          <a:xfrm rot="-2967116">
            <a:off x="8691170" y="1377244"/>
            <a:ext cx="12892802" cy="9575242"/>
          </a:xfrm>
          <a:custGeom>
            <a:avLst/>
            <a:gdLst/>
            <a:ahLst/>
            <a:cxnLst/>
            <a:rect l="l" t="t" r="r" b="b"/>
            <a:pathLst>
              <a:path w="12892802" h="9575242">
                <a:moveTo>
                  <a:pt x="0" y="0"/>
                </a:moveTo>
                <a:lnTo>
                  <a:pt x="12892803" y="0"/>
                </a:lnTo>
                <a:lnTo>
                  <a:pt x="12892803" y="9575242"/>
                </a:lnTo>
                <a:lnTo>
                  <a:pt x="0" y="9575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793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42B780D-022A-88F3-BC16-C35F59114D16}"/>
              </a:ext>
            </a:extLst>
          </p:cNvPr>
          <p:cNvSpPr/>
          <p:nvPr/>
        </p:nvSpPr>
        <p:spPr>
          <a:xfrm>
            <a:off x="16608890" y="8703795"/>
            <a:ext cx="650410" cy="650410"/>
          </a:xfrm>
          <a:custGeom>
            <a:avLst/>
            <a:gdLst/>
            <a:ahLst/>
            <a:cxnLst/>
            <a:rect l="l" t="t" r="r" b="b"/>
            <a:pathLst>
              <a:path w="650410" h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039D2C7-C1AF-7A39-F874-A97FFEBD9DC8}"/>
              </a:ext>
            </a:extLst>
          </p:cNvPr>
          <p:cNvSpPr txBox="1"/>
          <p:nvPr/>
        </p:nvSpPr>
        <p:spPr>
          <a:xfrm>
            <a:off x="8409846" y="8858267"/>
            <a:ext cx="9099432" cy="99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6999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VADER vs </a:t>
            </a:r>
            <a:r>
              <a:rPr lang="en-US" sz="6999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TextBlob</a:t>
            </a:r>
            <a:endParaRPr lang="en-US" sz="6999" b="1" dirty="0">
              <a:solidFill>
                <a:srgbClr val="FBF9F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F4BEA1E-283B-1AA6-9592-D8DEFB23A534}"/>
              </a:ext>
            </a:extLst>
          </p:cNvPr>
          <p:cNvSpPr txBox="1"/>
          <p:nvPr/>
        </p:nvSpPr>
        <p:spPr>
          <a:xfrm>
            <a:off x="9226768" y="6923642"/>
            <a:ext cx="7662329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Both models perform best on the Positive class. Neutral is the hardest to classify.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21BF0CB0-4C56-738A-EFB1-81234D73695B}"/>
              </a:ext>
            </a:extLst>
          </p:cNvPr>
          <p:cNvGrpSpPr/>
          <p:nvPr/>
        </p:nvGrpSpPr>
        <p:grpSpPr>
          <a:xfrm>
            <a:off x="6986741" y="381508"/>
            <a:ext cx="13882404" cy="6133592"/>
            <a:chOff x="0" y="0"/>
            <a:chExt cx="3656271" cy="729827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53039680-5D5E-9180-CCEB-804E7E2AB64D}"/>
                </a:ext>
              </a:extLst>
            </p:cNvPr>
            <p:cNvSpPr/>
            <p:nvPr/>
          </p:nvSpPr>
          <p:spPr>
            <a:xfrm>
              <a:off x="0" y="0"/>
              <a:ext cx="3656271" cy="729827"/>
            </a:xfrm>
            <a:custGeom>
              <a:avLst/>
              <a:gdLst/>
              <a:ahLst/>
              <a:cxnLst/>
              <a:rect l="l" t="t" r="r" b="b"/>
              <a:pathLst>
                <a:path w="3656271" h="729827">
                  <a:moveTo>
                    <a:pt x="33461" y="0"/>
                  </a:moveTo>
                  <a:lnTo>
                    <a:pt x="3622810" y="0"/>
                  </a:lnTo>
                  <a:cubicBezTo>
                    <a:pt x="3641290" y="0"/>
                    <a:pt x="3656271" y="14981"/>
                    <a:pt x="3656271" y="33461"/>
                  </a:cubicBezTo>
                  <a:lnTo>
                    <a:pt x="3656271" y="696366"/>
                  </a:lnTo>
                  <a:cubicBezTo>
                    <a:pt x="3656271" y="705241"/>
                    <a:pt x="3652746" y="713752"/>
                    <a:pt x="3646470" y="720027"/>
                  </a:cubicBezTo>
                  <a:cubicBezTo>
                    <a:pt x="3640196" y="726302"/>
                    <a:pt x="3631685" y="729827"/>
                    <a:pt x="3622810" y="729827"/>
                  </a:cubicBezTo>
                  <a:lnTo>
                    <a:pt x="33461" y="729827"/>
                  </a:lnTo>
                  <a:cubicBezTo>
                    <a:pt x="24586" y="729827"/>
                    <a:pt x="16076" y="726302"/>
                    <a:pt x="9800" y="720027"/>
                  </a:cubicBezTo>
                  <a:cubicBezTo>
                    <a:pt x="3525" y="713752"/>
                    <a:pt x="0" y="705241"/>
                    <a:pt x="0" y="696366"/>
                  </a:cubicBezTo>
                  <a:lnTo>
                    <a:pt x="0" y="33461"/>
                  </a:lnTo>
                  <a:cubicBezTo>
                    <a:pt x="0" y="24586"/>
                    <a:pt x="3525" y="16076"/>
                    <a:pt x="9800" y="9800"/>
                  </a:cubicBezTo>
                  <a:cubicBezTo>
                    <a:pt x="16076" y="3525"/>
                    <a:pt x="24586" y="0"/>
                    <a:pt x="33461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3D77286-4200-9811-5202-C448E875DF5B}"/>
                </a:ext>
              </a:extLst>
            </p:cNvPr>
            <p:cNvSpPr txBox="1"/>
            <p:nvPr/>
          </p:nvSpPr>
          <p:spPr>
            <a:xfrm>
              <a:off x="0" y="-38100"/>
              <a:ext cx="3656271" cy="767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783C4FE8-2F97-C102-7017-301EE8E8E6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598" y="932794"/>
            <a:ext cx="5619750" cy="37147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5E768F8-A9D4-31F3-F4F8-722369DB54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598" y="5418945"/>
            <a:ext cx="6693333" cy="415156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458B68A-3282-7340-A0CA-4953553516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8789" y="2397625"/>
            <a:ext cx="10531167" cy="194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605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983476" flipV="1">
            <a:off x="-2892749" y="-954371"/>
            <a:ext cx="7674102" cy="8229600"/>
          </a:xfrm>
          <a:custGeom>
            <a:avLst/>
            <a:gdLst/>
            <a:ahLst/>
            <a:cxnLst/>
            <a:rect l="l" t="t" r="r" b="b"/>
            <a:pathLst>
              <a:path w="7674102" h="8229600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15372182" y="7222393"/>
            <a:ext cx="6195600" cy="3384081"/>
          </a:xfrm>
          <a:custGeom>
            <a:avLst/>
            <a:gdLst/>
            <a:ahLst/>
            <a:cxnLst/>
            <a:rect l="l" t="t" r="r" b="b"/>
            <a:pathLst>
              <a:path w="6195600" h="3384081">
                <a:moveTo>
                  <a:pt x="0" y="0"/>
                </a:moveTo>
                <a:lnTo>
                  <a:pt x="6195601" y="0"/>
                </a:lnTo>
                <a:lnTo>
                  <a:pt x="6195601" y="3384081"/>
                </a:lnTo>
                <a:lnTo>
                  <a:pt x="0" y="3384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50" b="-143185"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4" name="Group 4"/>
          <p:cNvGrpSpPr/>
          <p:nvPr/>
        </p:nvGrpSpPr>
        <p:grpSpPr>
          <a:xfrm>
            <a:off x="6027776" y="1352779"/>
            <a:ext cx="6188862" cy="3675939"/>
            <a:chOff x="0" y="0"/>
            <a:chExt cx="1629988" cy="9681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29988" cy="968149"/>
            </a:xfrm>
            <a:custGeom>
              <a:avLst/>
              <a:gdLst/>
              <a:ahLst/>
              <a:cxnLst/>
              <a:rect l="l" t="t" r="r" b="b"/>
              <a:pathLst>
                <a:path w="1629988" h="968149">
                  <a:moveTo>
                    <a:pt x="25019" y="0"/>
                  </a:moveTo>
                  <a:lnTo>
                    <a:pt x="1604970" y="0"/>
                  </a:lnTo>
                  <a:cubicBezTo>
                    <a:pt x="1611605" y="0"/>
                    <a:pt x="1617969" y="2636"/>
                    <a:pt x="1622661" y="7328"/>
                  </a:cubicBezTo>
                  <a:cubicBezTo>
                    <a:pt x="1627353" y="12020"/>
                    <a:pt x="1629988" y="18383"/>
                    <a:pt x="1629988" y="25019"/>
                  </a:cubicBezTo>
                  <a:lnTo>
                    <a:pt x="1629988" y="943130"/>
                  </a:lnTo>
                  <a:cubicBezTo>
                    <a:pt x="1629988" y="949765"/>
                    <a:pt x="1627353" y="956129"/>
                    <a:pt x="1622661" y="960821"/>
                  </a:cubicBezTo>
                  <a:cubicBezTo>
                    <a:pt x="1617969" y="965513"/>
                    <a:pt x="1611605" y="968149"/>
                    <a:pt x="1604970" y="968149"/>
                  </a:cubicBezTo>
                  <a:lnTo>
                    <a:pt x="25019" y="968149"/>
                  </a:lnTo>
                  <a:cubicBezTo>
                    <a:pt x="18383" y="968149"/>
                    <a:pt x="12020" y="965513"/>
                    <a:pt x="7328" y="960821"/>
                  </a:cubicBezTo>
                  <a:cubicBezTo>
                    <a:pt x="2636" y="956129"/>
                    <a:pt x="0" y="949765"/>
                    <a:pt x="0" y="943130"/>
                  </a:cubicBezTo>
                  <a:lnTo>
                    <a:pt x="0" y="25019"/>
                  </a:lnTo>
                  <a:cubicBezTo>
                    <a:pt x="0" y="18383"/>
                    <a:pt x="2636" y="12020"/>
                    <a:pt x="7328" y="7328"/>
                  </a:cubicBezTo>
                  <a:cubicBezTo>
                    <a:pt x="12020" y="2636"/>
                    <a:pt x="18383" y="0"/>
                    <a:pt x="25019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629988" cy="10062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27776" y="6658622"/>
            <a:ext cx="6188862" cy="2961051"/>
            <a:chOff x="0" y="0"/>
            <a:chExt cx="1629988" cy="7798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29988" cy="779865"/>
            </a:xfrm>
            <a:custGeom>
              <a:avLst/>
              <a:gdLst/>
              <a:ahLst/>
              <a:cxnLst/>
              <a:rect l="l" t="t" r="r" b="b"/>
              <a:pathLst>
                <a:path w="1629988" h="779865">
                  <a:moveTo>
                    <a:pt x="25019" y="0"/>
                  </a:moveTo>
                  <a:lnTo>
                    <a:pt x="1604970" y="0"/>
                  </a:lnTo>
                  <a:cubicBezTo>
                    <a:pt x="1611605" y="0"/>
                    <a:pt x="1617969" y="2636"/>
                    <a:pt x="1622661" y="7328"/>
                  </a:cubicBezTo>
                  <a:cubicBezTo>
                    <a:pt x="1627353" y="12020"/>
                    <a:pt x="1629988" y="18383"/>
                    <a:pt x="1629988" y="25019"/>
                  </a:cubicBezTo>
                  <a:lnTo>
                    <a:pt x="1629988" y="754846"/>
                  </a:lnTo>
                  <a:cubicBezTo>
                    <a:pt x="1629988" y="761482"/>
                    <a:pt x="1627353" y="767845"/>
                    <a:pt x="1622661" y="772537"/>
                  </a:cubicBezTo>
                  <a:cubicBezTo>
                    <a:pt x="1617969" y="777229"/>
                    <a:pt x="1611605" y="779865"/>
                    <a:pt x="1604970" y="779865"/>
                  </a:cubicBezTo>
                  <a:lnTo>
                    <a:pt x="25019" y="779865"/>
                  </a:lnTo>
                  <a:cubicBezTo>
                    <a:pt x="18383" y="779865"/>
                    <a:pt x="12020" y="777229"/>
                    <a:pt x="7328" y="772537"/>
                  </a:cubicBezTo>
                  <a:cubicBezTo>
                    <a:pt x="2636" y="767845"/>
                    <a:pt x="0" y="761482"/>
                    <a:pt x="0" y="754846"/>
                  </a:cubicBezTo>
                  <a:lnTo>
                    <a:pt x="0" y="25019"/>
                  </a:lnTo>
                  <a:cubicBezTo>
                    <a:pt x="0" y="18383"/>
                    <a:pt x="2636" y="12020"/>
                    <a:pt x="7328" y="7328"/>
                  </a:cubicBezTo>
                  <a:cubicBezTo>
                    <a:pt x="12020" y="2636"/>
                    <a:pt x="18383" y="0"/>
                    <a:pt x="25019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629988" cy="817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421425" y="1723195"/>
            <a:ext cx="5445149" cy="181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VADER stronger overall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TextBlob more conservative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Common failures: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 b="1">
              <a:solidFill>
                <a:srgbClr val="FBF9F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525413" y="5671197"/>
            <a:ext cx="9237174" cy="75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21425" y="7029038"/>
            <a:ext cx="5445149" cy="218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indent="-269876" algn="l">
              <a:lnSpc>
                <a:spcPts val="3500"/>
              </a:lnSpc>
              <a:buFont typeface="Arial"/>
              <a:buChar char="•"/>
            </a:pPr>
            <a:r>
              <a:rPr lang="en-US" sz="2500" b="1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Complete lexicon-based pipeline built</a:t>
            </a:r>
          </a:p>
          <a:p>
            <a:pPr marL="539751" lvl="1" indent="-269876" algn="l">
              <a:lnSpc>
                <a:spcPts val="3500"/>
              </a:lnSpc>
              <a:buFont typeface="Arial"/>
              <a:buChar char="•"/>
            </a:pPr>
            <a:r>
              <a:rPr lang="en-US" sz="2500" b="1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VADER best baseline</a:t>
            </a:r>
          </a:p>
          <a:p>
            <a:pPr marL="539751" lvl="1" indent="-269876" algn="l">
              <a:lnSpc>
                <a:spcPts val="3500"/>
              </a:lnSpc>
              <a:buFont typeface="Arial"/>
              <a:buChar char="•"/>
            </a:pPr>
            <a:r>
              <a:rPr lang="en-US" sz="2500" b="1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Strong foundation for Phase 2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US" sz="2500" b="1">
              <a:solidFill>
                <a:srgbClr val="FBF9F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525413" y="365354"/>
            <a:ext cx="9237174" cy="75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DISCUSSION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71390" y="3165487"/>
            <a:ext cx="5445149" cy="2277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Sarcasm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Subtle sentiment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Domain-specific terms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FBF9F1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FBF9F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00837" flipH="1">
            <a:off x="9124039" y="428119"/>
            <a:ext cx="8310061" cy="8781453"/>
          </a:xfrm>
          <a:custGeom>
            <a:avLst/>
            <a:gdLst/>
            <a:ahLst/>
            <a:cxnLst/>
            <a:rect l="l" t="t" r="r" b="b"/>
            <a:pathLst>
              <a:path w="8310061" h="8781453">
                <a:moveTo>
                  <a:pt x="8310061" y="0"/>
                </a:moveTo>
                <a:lnTo>
                  <a:pt x="0" y="0"/>
                </a:lnTo>
                <a:lnTo>
                  <a:pt x="0" y="8781453"/>
                </a:lnTo>
                <a:lnTo>
                  <a:pt x="8310061" y="8781453"/>
                </a:lnTo>
                <a:lnTo>
                  <a:pt x="8310061" y="0"/>
                </a:lnTo>
                <a:close/>
              </a:path>
            </a:pathLst>
          </a:custGeom>
          <a:blipFill>
            <a:blip r:embed="rId2"/>
            <a:stretch>
              <a:fillRect r="-381" b="-1869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928665" y="3213525"/>
            <a:ext cx="11411477" cy="2203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59"/>
              </a:lnSpc>
            </a:pPr>
            <a:r>
              <a:rPr lang="en-US" sz="14508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28665" y="5417085"/>
            <a:ext cx="11411477" cy="831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55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for your time and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607</Words>
  <Application>Microsoft Office PowerPoint</Application>
  <PresentationFormat>Custom</PresentationFormat>
  <Paragraphs>114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Lato</vt:lpstr>
      <vt:lpstr>Lato Bold</vt:lpstr>
      <vt:lpstr>Poppins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</dc:title>
  <dc:creator>MonaMac</dc:creator>
  <cp:lastModifiedBy>Jaturaput JONGSUBCHAROEN</cp:lastModifiedBy>
  <cp:revision>13</cp:revision>
  <dcterms:created xsi:type="dcterms:W3CDTF">2006-08-16T00:00:00Z</dcterms:created>
  <dcterms:modified xsi:type="dcterms:W3CDTF">2026-03-11T01:40:04Z</dcterms:modified>
  <dc:identifier>DAHCMKWQXEc</dc:identifier>
</cp:coreProperties>
</file>